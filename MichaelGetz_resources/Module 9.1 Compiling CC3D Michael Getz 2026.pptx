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2988" r:id="rId6"/>
    <p:sldId id="2766" r:id="rId7"/>
    <p:sldId id="2767" r:id="rId8"/>
    <p:sldId id="2989" r:id="rId9"/>
    <p:sldId id="2993" r:id="rId10"/>
    <p:sldId id="2990" r:id="rId11"/>
    <p:sldId id="2949" r:id="rId12"/>
    <p:sldId id="2948" r:id="rId13"/>
    <p:sldId id="2956" r:id="rId14"/>
    <p:sldId id="2946" r:id="rId15"/>
    <p:sldId id="2991" r:id="rId16"/>
    <p:sldId id="2957" r:id="rId17"/>
    <p:sldId id="2945" r:id="rId18"/>
    <p:sldId id="2943" r:id="rId19"/>
    <p:sldId id="2942" r:id="rId20"/>
    <p:sldId id="2958" r:id="rId21"/>
    <p:sldId id="2959" r:id="rId22"/>
    <p:sldId id="2994" r:id="rId23"/>
    <p:sldId id="2995" r:id="rId24"/>
    <p:sldId id="2944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673367-B7F2-31AB-F698-1565B4E3FEF1}" name="Getz, Michael" initials="MG" userId="S::getzm@iu.edu::fe5e103d-71e7-4051-94ce-9700b5277ca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azier" initials="JAG" lastIdx="5" clrIdx="0"/>
  <p:cmAuthor id="2" name="Glazier, James Alexander" initials="GJA" lastIdx="1" clrIdx="1">
    <p:extLst>
      <p:ext uri="{19B8F6BF-5375-455C-9EA6-DF929625EA0E}">
        <p15:presenceInfo xmlns:p15="http://schemas.microsoft.com/office/powerpoint/2012/main" userId="Glazier, James Alexander" providerId="None"/>
      </p:ext>
    </p:extLst>
  </p:cmAuthor>
  <p:cmAuthor id="3" name="Aponte-Serrano, Josua Oscar" initials="ASJO" lastIdx="1" clrIdx="2">
    <p:extLst>
      <p:ext uri="{19B8F6BF-5375-455C-9EA6-DF929625EA0E}">
        <p15:presenceInfo xmlns:p15="http://schemas.microsoft.com/office/powerpoint/2012/main" userId="S::joaponte@iu.edu::43a43737-d1b2-49cd-8a88-38556cd7bb12" providerId="AD"/>
      </p:ext>
    </p:extLst>
  </p:cmAuthor>
  <p:cmAuthor id="4" name="Juliano Gianlupi" initials="JG" lastIdx="1" clrIdx="3">
    <p:extLst>
      <p:ext uri="{19B8F6BF-5375-455C-9EA6-DF929625EA0E}">
        <p15:presenceInfo xmlns:p15="http://schemas.microsoft.com/office/powerpoint/2012/main" userId="0b1284171e6cd95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00"/>
    <a:srgbClr val="3A3A3A"/>
    <a:srgbClr val="404040"/>
    <a:srgbClr val="AFAFAF"/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 autoAdjust="0"/>
    <p:restoredTop sz="97419" autoAdjust="0"/>
  </p:normalViewPr>
  <p:slideViewPr>
    <p:cSldViewPr>
      <p:cViewPr varScale="1">
        <p:scale>
          <a:sx n="103" d="100"/>
          <a:sy n="103" d="100"/>
        </p:scale>
        <p:origin x="175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22" d="100"/>
          <a:sy n="122" d="100"/>
        </p:scale>
        <p:origin x="5004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BBDE7D1-4ACE-42B0-B632-72907CD5522E}" type="datetimeFigureOut">
              <a:rPr lang="en-US"/>
              <a:pPr>
                <a:defRPr/>
              </a:pPr>
              <a:t>08/06/26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823B376-FC5E-4AC8-89AB-21FF98D54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963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Post slack link repeatedly in Chat Keep links available to repost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C37C3-5C3B-4276-83BC-BB8557857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3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8E17-7F77-4CF2-BA40-6A5EAD1B4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9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D54EF-6F91-4380-9EA8-4161CA833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2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C1380-7FD7-42D9-BE65-00425DBEC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1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2D0B7-55FE-49A1-A58C-A2DF81EE7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0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BC5B6-1404-4F5A-8751-293019FD0C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1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45D7B-FA81-4969-8DDE-6B7BE51DD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5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EE7E1-9BDC-4D73-87D0-18CAB285AB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2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258E2-566A-45A8-BD47-DF7C7914E4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CE6A9-EC62-4B9C-8DEF-40539660E5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3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0359C-1C9A-4DF0-AD5C-33E020AEB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0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B20BF40-6704-4602-A816-40DBDE2CE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hyperlink" Target="https://tinyurl.com/2025CC3DSLAC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2026TeamingDoc" TargetMode="External"/><Relationship Id="rId5" Type="http://schemas.openxmlformats.org/officeDocument/2006/relationships/hyperlink" Target="https://compucell3ddevelopersmanual.readthedocs.io/en/master/index.html" TargetMode="External"/><Relationship Id="rId10" Type="http://schemas.openxmlformats.org/officeDocument/2006/relationships/image" Target="../media/image5.jp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ucell3ddevelopersmanual.readthedocs.io/en/master/building_core_cc3d_cpp_code_mac.html#mac-osx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compucell3ddevelopersmanual.readthedocs.io/en/master/building_core_cc3d_cpp_code_windows.html#visual-studio-202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3.png"/><Relationship Id="rId4" Type="http://schemas.openxmlformats.org/officeDocument/2006/relationships/hyperlink" Target="https://compucell3ddevelopersmanual.readthedocs.io/en/master/building_core_cc3d_cpp_code_linux.html#linux-ubuntu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bpj.2014.04.036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ucell3ddevelopersmanual.readthedocs.io/en/master/building_core_cc3d_cpp_code_mac.html#mac-osx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compucell3ddevelopersmanual.readthedocs.io/en/master/building_core_cc3d_cpp_code_windows.html#visual-studio-202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3.png"/><Relationship Id="rId4" Type="http://schemas.openxmlformats.org/officeDocument/2006/relationships/hyperlink" Target="https://compucell3ddevelopersmanual.readthedocs.io/en/master/building_core_cc3d_cpp_code_linux.html#linux-ubuntu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hracker/MacOSX-SDKs/releases/tag/11.3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github.com/phracker/MacOSX-SDK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mpucell3ddevelopersmanual.readthedocs.io/en/master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-1" y="31750"/>
            <a:ext cx="88428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Calibri"/>
              <a:buNone/>
            </a:pPr>
            <a:r>
              <a:rPr lang="en-US" altLang="en-US" sz="2800" b="1" dirty="0">
                <a:solidFill>
                  <a:srgbClr val="0000CC"/>
                </a:solidFill>
              </a:rPr>
              <a:t>CompuCell3D Workshop: </a:t>
            </a:r>
            <a:r>
              <a:rPr lang="en-US" sz="2800" b="1" dirty="0">
                <a:solidFill>
                  <a:srgbClr val="0000CC"/>
                </a:solidFill>
              </a:rPr>
              <a:t>Module 9.1: Compiling CC3D for C++ extensions</a:t>
            </a:r>
            <a:endParaRPr sz="4000" dirty="0">
              <a:solidFill>
                <a:srgbClr val="0000CC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364355" y="1228682"/>
            <a:ext cx="6434318" cy="189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Michael Getz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Dept. of Intelligent Systems Engineering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and Biocomplexity Institute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Indiana University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Bloomington, IN 47408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1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Thursday, August 6</a:t>
            </a:r>
            <a:r>
              <a:rPr lang="en-US" sz="1850" b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, 202</a:t>
            </a:r>
            <a:r>
              <a:rPr lang="en-US" sz="1850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 descr="IU seal, red on white, lar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1920" y="990383"/>
            <a:ext cx="1944688" cy="18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699" y="1380520"/>
            <a:ext cx="1148986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79912" y="3370958"/>
            <a:ext cx="7984175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>
                <a:latin typeface="+mn-lt"/>
              </a:rPr>
              <a:t>Link to Compucell3D Developer manual: </a:t>
            </a:r>
            <a:r>
              <a:rPr lang="en-US" dirty="0">
                <a:latin typeface="+mn-lt"/>
                <a:hlinkClick r:id="rId5"/>
              </a:rPr>
              <a:t>https://compucell3ddevelopersmanual.readthedocs.io/en/master/index.html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Hackathon Idea Sharing Documents: </a:t>
            </a:r>
            <a:r>
              <a:rPr lang="en-US" u="sng" dirty="0">
                <a:latin typeface="+mn-lt"/>
                <a:hlinkClick r:id="rId6"/>
              </a:rPr>
              <a:t>https://tinyurl.com/2026TeamingDoc</a:t>
            </a:r>
            <a:r>
              <a:rPr lang="en-US" dirty="0">
                <a:latin typeface="+mn-lt"/>
              </a:rPr>
              <a:t> </a:t>
            </a:r>
          </a:p>
          <a:p>
            <a:endParaRPr lang="en-US" sz="1600" dirty="0">
              <a:latin typeface="+mn-lt"/>
            </a:endParaRPr>
          </a:p>
          <a:p>
            <a:r>
              <a:rPr lang="en-US" dirty="0">
                <a:latin typeface="+mn-lt"/>
              </a:rPr>
              <a:t>Please join the workshop Slack: </a:t>
            </a:r>
            <a:r>
              <a:rPr lang="en-US" u="sng" dirty="0">
                <a:latin typeface="+mn-lt"/>
                <a:hlinkClick r:id="rId7"/>
              </a:rPr>
              <a:t>https://tinyurl.com/2026CC3DSLACK</a:t>
            </a:r>
            <a:endParaRPr lang="en-US" u="sng" dirty="0">
              <a:latin typeface="+mn-lt"/>
            </a:endParaRPr>
          </a:p>
          <a:p>
            <a:endParaRPr lang="en-US" u="sng" dirty="0">
              <a:latin typeface="+mn-lt"/>
            </a:endParaRPr>
          </a:p>
          <a:p>
            <a:r>
              <a:rPr lang="en-US" i="1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Workshop will be live-streamed, recorded and distributed on YouTube</a:t>
            </a:r>
          </a:p>
          <a:p>
            <a:endParaRPr lang="en-US" sz="14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r>
              <a:rPr lang="en-US" sz="1400" b="1" dirty="0">
                <a:solidFill>
                  <a:srgbClr val="0000FF"/>
                </a:solidFill>
              </a:rPr>
              <a:t>Funding: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b="1" dirty="0"/>
              <a:t>NIH U24 EB028887, NSF 2120200, NSF 2000281, NSF 2303695</a:t>
            </a:r>
            <a:r>
              <a:rPr lang="en-US" b="1" dirty="0"/>
              <a:t>. </a:t>
            </a:r>
            <a:r>
              <a:rPr lang="en-US" sz="1400" b="1" dirty="0"/>
              <a:t>Previous Funding: NIH R01 GM122424</a:t>
            </a:r>
            <a:fld id="{FDF9DC1B-D9CD-4A25-A805-D02460E9EA77}" type="slidenum">
              <a:rPr lang="en-US" sz="1400" b="1" smtClean="0"/>
              <a:t>1</a:t>
            </a:fld>
            <a:r>
              <a:rPr lang="en-US" sz="1400" b="1" dirty="0"/>
              <a:t>, NSF 1720625</a:t>
            </a:r>
            <a:endParaRPr lang="en-US" sz="2000" dirty="0"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45410" y="1371383"/>
            <a:ext cx="1097922" cy="11366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CFE1E0-1CD8-6B29-46CA-6DDE527161B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039928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pic>
        <p:nvPicPr>
          <p:cNvPr id="3" name="Picture 17" descr="Biocomplexity Logo">
            <a:extLst>
              <a:ext uri="{FF2B5EF4-FFF2-40B4-BE49-F238E27FC236}">
                <a16:creationId xmlns:a16="http://schemas.microsoft.com/office/drawing/2014/main" id="{EB780170-431B-B3F8-C42B-34CD6B004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redblackblockiu">
            <a:extLst>
              <a:ext uri="{FF2B5EF4-FFF2-40B4-BE49-F238E27FC236}">
                <a16:creationId xmlns:a16="http://schemas.microsoft.com/office/drawing/2014/main" id="{C0A82115-F0CA-39DE-0365-52826D102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6F32-254B-6AB3-AE0C-3F897066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3515D-649C-EC60-C1D6-252CF377B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</a:t>
            </a:r>
            <a:r>
              <a:rPr lang="en-US" sz="36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those following along: set up your </a:t>
            </a:r>
            <a:r>
              <a:rPr lang="en-US" sz="3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conda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environment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8702-07C2-5D5C-5FE3-FAC50702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5353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1" dirty="0">
                <a:ea typeface="Cambria Math"/>
              </a:rPr>
              <a:t>For Windows:</a:t>
            </a:r>
          </a:p>
          <a:p>
            <a:r>
              <a:rPr lang="en-US" sz="2400" dirty="0">
                <a:ea typeface="Cambria Math"/>
              </a:rPr>
              <a:t>In </a:t>
            </a:r>
            <a:r>
              <a:rPr lang="en-US" sz="2400" dirty="0" err="1">
                <a:ea typeface="Cambria Math"/>
              </a:rPr>
              <a:t>miniconda</a:t>
            </a:r>
            <a:r>
              <a:rPr lang="en-US" sz="2400" dirty="0">
                <a:ea typeface="Cambria Math"/>
              </a:rPr>
              <a:t>/</a:t>
            </a:r>
            <a:r>
              <a:rPr lang="en-US" sz="2400" dirty="0" err="1">
                <a:ea typeface="Cambria Math"/>
              </a:rPr>
              <a:t>miniforge</a:t>
            </a:r>
            <a:r>
              <a:rPr lang="en-US" sz="2400" dirty="0">
                <a:ea typeface="Cambria Math"/>
              </a:rPr>
              <a:t>: </a:t>
            </a:r>
          </a:p>
          <a:p>
            <a:pPr lvl="1"/>
            <a:r>
              <a:rPr lang="en-US" sz="1800" dirty="0">
                <a:ea typeface="Cambria Math"/>
              </a:rPr>
              <a:t>Create the environment, you may have to run this command elevated</a:t>
            </a:r>
          </a:p>
          <a:p>
            <a:pPr lvl="2"/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mamba env create -f %</a:t>
            </a:r>
            <a:r>
              <a:rPr kumimoji="0" lang="en-US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PATHTO</a:t>
            </a: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%/env-cc3d-2026.yaml</a:t>
            </a:r>
          </a:p>
          <a:p>
            <a:pPr lvl="3"/>
            <a:r>
              <a:rPr lang="en-US" sz="1400" dirty="0">
                <a:ea typeface="Cambria Math"/>
              </a:rPr>
              <a:t>Make sure you have mamba for faster installation speed (</a:t>
            </a:r>
            <a:r>
              <a:rPr lang="en-US" sz="1400" dirty="0" err="1">
                <a:ea typeface="Cambria Math"/>
              </a:rPr>
              <a:t>conda</a:t>
            </a:r>
            <a:r>
              <a:rPr lang="en-US" sz="1400" dirty="0">
                <a:ea typeface="Cambria Math"/>
              </a:rPr>
              <a:t> still works without mamba, but is SLOW)</a:t>
            </a:r>
          </a:p>
          <a:p>
            <a:pPr lvl="3"/>
            <a:r>
              <a:rPr lang="en-US" altLang="en-US" sz="1600" b="1" dirty="0" err="1">
                <a:solidFill>
                  <a:srgbClr val="333333"/>
                </a:solidFill>
              </a:rPr>
              <a:t>conda</a:t>
            </a:r>
            <a:r>
              <a:rPr lang="en-US" altLang="en-US" sz="1600" b="1" dirty="0">
                <a:solidFill>
                  <a:srgbClr val="333333"/>
                </a:solidFill>
              </a:rPr>
              <a:t> install -c </a:t>
            </a:r>
            <a:r>
              <a:rPr lang="en-US" altLang="en-US" sz="1600" b="1" dirty="0" err="1">
                <a:solidFill>
                  <a:srgbClr val="333333"/>
                </a:solidFill>
              </a:rPr>
              <a:t>conda</a:t>
            </a:r>
            <a:r>
              <a:rPr lang="en-US" altLang="en-US" sz="1600" b="1" dirty="0">
                <a:solidFill>
                  <a:srgbClr val="333333"/>
                </a:solidFill>
              </a:rPr>
              <a:t>-forge mamba</a:t>
            </a:r>
            <a:r>
              <a:rPr lang="en-US" altLang="en-US" sz="1600" b="1" dirty="0"/>
              <a:t> </a:t>
            </a:r>
          </a:p>
          <a:p>
            <a:r>
              <a:rPr lang="en-US" altLang="en-US" sz="2800" b="1" dirty="0"/>
              <a:t>For Mac/Linux:</a:t>
            </a:r>
          </a:p>
          <a:p>
            <a:pPr lvl="1"/>
            <a:r>
              <a:rPr lang="en-US" sz="1800" dirty="0"/>
              <a:t>cd ~/src-cc3d</a:t>
            </a:r>
          </a:p>
          <a:p>
            <a:pPr lvl="1"/>
            <a:r>
              <a:rPr lang="en-US" sz="1800" dirty="0"/>
              <a:t>mamba env create -f </a:t>
            </a:r>
            <a:r>
              <a:rPr lang="en-US" sz="1800" dirty="0" err="1"/>
              <a:t>environment.yaml</a:t>
            </a:r>
            <a:r>
              <a:rPr lang="en-US" sz="1800" dirty="0"/>
              <a:t> --name cc3d_compile</a:t>
            </a:r>
          </a:p>
          <a:p>
            <a:pPr lvl="1"/>
            <a:r>
              <a:rPr lang="en-US" altLang="en-US" sz="2400" b="1" i="1" dirty="0"/>
              <a:t>Please ask me for this </a:t>
            </a:r>
            <a:r>
              <a:rPr lang="en-US" altLang="en-US" sz="2400" b="1" i="1" dirty="0" err="1"/>
              <a:t>yaml</a:t>
            </a:r>
            <a:r>
              <a:rPr lang="en-US" altLang="en-US" sz="2400" b="1" i="1" dirty="0"/>
              <a:t> if you need it</a:t>
            </a:r>
          </a:p>
          <a:p>
            <a:pPr marL="0" indent="0">
              <a:buNone/>
            </a:pPr>
            <a:r>
              <a:rPr lang="en-US" altLang="en-US" sz="1100" b="1" dirty="0"/>
              <a:t>Windows: </a:t>
            </a:r>
            <a:r>
              <a:rPr lang="en-US" altLang="en-US" sz="1100" b="1" dirty="0">
                <a:hlinkClick r:id="rId2"/>
              </a:rPr>
              <a:t>https://compucell3ddevelopersmanual.readthedocs.io/en/master/building_core_cc3d_cpp_code_windows.html#visual-studio-2026</a:t>
            </a:r>
            <a:endParaRPr lang="en-US" altLang="en-US" sz="1100" b="1" dirty="0"/>
          </a:p>
          <a:p>
            <a:pPr marL="0" indent="0">
              <a:buNone/>
            </a:pPr>
            <a:r>
              <a:rPr lang="en-US" altLang="en-US" sz="1100" b="1" dirty="0"/>
              <a:t>Mac:</a:t>
            </a:r>
          </a:p>
          <a:p>
            <a:pPr marL="0" indent="0">
              <a:buNone/>
            </a:pPr>
            <a:r>
              <a:rPr lang="en-US" altLang="en-US" sz="1100" b="1" dirty="0">
                <a:hlinkClick r:id="rId3"/>
              </a:rPr>
              <a:t>https://compucell3ddevelopersmanual.readthedocs.io/en/master/building_core_cc3d_cpp_code_mac.html#mac-osx</a:t>
            </a:r>
            <a:endParaRPr lang="en-US" altLang="en-US" sz="1100" b="1" dirty="0"/>
          </a:p>
          <a:p>
            <a:pPr marL="0" indent="0">
              <a:buNone/>
            </a:pPr>
            <a:r>
              <a:rPr lang="en-US" altLang="en-US" sz="1100" b="1" dirty="0"/>
              <a:t>Linux:</a:t>
            </a:r>
          </a:p>
          <a:p>
            <a:pPr marL="0" indent="0">
              <a:buNone/>
            </a:pPr>
            <a:r>
              <a:rPr lang="en-US" altLang="en-US" sz="1100" b="1" dirty="0">
                <a:hlinkClick r:id="rId4"/>
              </a:rPr>
              <a:t>https://compucell3ddevelopersmanual.readthedocs.io/en/master/building_core_cc3d_cpp_code_linux.html#linux-ubuntu</a:t>
            </a:r>
            <a:endParaRPr lang="en-US" altLang="en-US" sz="1100" b="1" dirty="0"/>
          </a:p>
          <a:p>
            <a:pPr marL="0" indent="0">
              <a:buNone/>
            </a:pPr>
            <a:endParaRPr lang="en-US" altLang="en-US" sz="1400" b="1" dirty="0"/>
          </a:p>
          <a:p>
            <a:pPr marL="0" indent="0">
              <a:buNone/>
            </a:pPr>
            <a:endParaRPr lang="en-US" altLang="en-US" sz="1400" b="1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1F573E8B-D638-F1BB-08D2-FE67AF62FD4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dblackblockiu">
            <a:extLst>
              <a:ext uri="{FF2B5EF4-FFF2-40B4-BE49-F238E27FC236}">
                <a16:creationId xmlns:a16="http://schemas.microsoft.com/office/drawing/2014/main" id="{74EF949D-B0B7-5FC6-F3E7-FE2147BB0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Biocomplexity Logo">
            <a:extLst>
              <a:ext uri="{FF2B5EF4-FFF2-40B4-BE49-F238E27FC236}">
                <a16:creationId xmlns:a16="http://schemas.microsoft.com/office/drawing/2014/main" id="{C4B48440-22B4-BB35-FE7E-E8077F0BC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924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BE8E-EC78-39AD-6DD3-F053E35F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C0BF5"/>
                </a:solidFill>
              </a:rPr>
              <a:t>Module 9.1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529F2-CE2F-A948-7342-4ED337052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0200"/>
            <a:ext cx="76200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9.1.1 – Why extend CC3D?</a:t>
            </a:r>
          </a:p>
          <a:p>
            <a:pPr marL="0" indent="0">
              <a:buNone/>
            </a:pPr>
            <a:r>
              <a:rPr lang="en-US" sz="1600" b="1" dirty="0"/>
              <a:t>9.1.2 – How to compile CC3D: What is needed</a:t>
            </a:r>
          </a:p>
          <a:p>
            <a:pPr marL="0" indent="0">
              <a:buNone/>
            </a:pPr>
            <a:r>
              <a:rPr lang="en-US" sz="1600" b="1" dirty="0"/>
              <a:t>9.1.3 – How to compile CC3D: git clone of CC3D</a:t>
            </a:r>
          </a:p>
          <a:p>
            <a:pPr marL="0" indent="0">
              <a:buNone/>
            </a:pPr>
            <a:r>
              <a:rPr lang="en-US" sz="1600" b="1" dirty="0"/>
              <a:t>9.1.4 – How to compile CC3D: compiler</a:t>
            </a:r>
          </a:p>
          <a:p>
            <a:pPr marL="0" indent="0">
              <a:buNone/>
            </a:pPr>
            <a:r>
              <a:rPr lang="en-US" sz="1600" b="1" dirty="0"/>
              <a:t>9.1.5 – How to compile CC3D: </a:t>
            </a:r>
            <a:r>
              <a:rPr lang="en-US" sz="1600" b="1" dirty="0" err="1"/>
              <a:t>conda</a:t>
            </a:r>
            <a:r>
              <a:rPr lang="en-US" sz="1600" b="1" dirty="0"/>
              <a:t> environment</a:t>
            </a:r>
          </a:p>
          <a:p>
            <a:pPr marL="0" indent="0">
              <a:buNone/>
            </a:pPr>
            <a:r>
              <a:rPr lang="en-US" sz="1600" b="1" dirty="0"/>
              <a:t>9.1.6 – How to compile CC3D: </a:t>
            </a:r>
            <a:r>
              <a:rPr lang="en-US" sz="1600" b="1" dirty="0" err="1"/>
              <a:t>cmake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9.1.7 –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Compile the solution (Windows)</a:t>
            </a:r>
            <a:endParaRPr lang="en-US" sz="1600" b="1" dirty="0">
              <a:solidFill>
                <a:srgbClr val="000000"/>
              </a:solidFill>
            </a:endParaRPr>
          </a:p>
        </p:txBody>
      </p:sp>
      <p:pic>
        <p:nvPicPr>
          <p:cNvPr id="4" name="Google Shape;114;p3" descr="redblackblockiu">
            <a:extLst>
              <a:ext uri="{FF2B5EF4-FFF2-40B4-BE49-F238E27FC236}">
                <a16:creationId xmlns:a16="http://schemas.microsoft.com/office/drawing/2014/main" id="{56CCCA2B-EF4A-4C45-979F-ED2E9D5D03C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79369"/>
            <a:ext cx="363141" cy="47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3;p3" descr="Biocomplexity Logo">
            <a:extLst>
              <a:ext uri="{FF2B5EF4-FFF2-40B4-BE49-F238E27FC236}">
                <a16:creationId xmlns:a16="http://schemas.microsoft.com/office/drawing/2014/main" id="{BDA88550-002F-E619-FF70-F3A07CEFA8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98706" y="6412706"/>
            <a:ext cx="445294" cy="4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;p3">
            <a:extLst>
              <a:ext uri="{FF2B5EF4-FFF2-40B4-BE49-F238E27FC236}">
                <a16:creationId xmlns:a16="http://schemas.microsoft.com/office/drawing/2014/main" id="{38F566DD-7B4F-6B63-2F20-B5EBB4228D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0325" y="0"/>
            <a:ext cx="593675" cy="617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437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2AF2-793D-DF74-D12B-D471A6AD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9.1.1 What do you gain by extending Compucell3D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59DF6-29BF-F002-DEA6-375A4052E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AutoNum type="arabicPeriod"/>
            </a:pPr>
            <a:r>
              <a:rPr lang="en-US" sz="2400" b="1" dirty="0">
                <a:ea typeface="Cambria Math"/>
              </a:rPr>
              <a:t>Python</a:t>
            </a:r>
            <a:r>
              <a:rPr lang="en-US" sz="2400" dirty="0">
                <a:ea typeface="Cambria Math"/>
              </a:rPr>
              <a:t> is much slower than </a:t>
            </a:r>
            <a:r>
              <a:rPr lang="en-US" sz="2400" b="1" dirty="0">
                <a:ea typeface="Cambria Math"/>
              </a:rPr>
              <a:t>C++</a:t>
            </a:r>
            <a:r>
              <a:rPr lang="en-US" sz="2400" dirty="0">
                <a:ea typeface="Cambria Math"/>
              </a:rPr>
              <a:t>,</a:t>
            </a:r>
            <a:r>
              <a:rPr lang="en-US" sz="2400" b="1" dirty="0">
                <a:ea typeface="Cambria Math"/>
              </a:rPr>
              <a:t> </a:t>
            </a:r>
            <a:r>
              <a:rPr lang="en-US" sz="2400" dirty="0">
                <a:ea typeface="Cambria Math"/>
              </a:rPr>
              <a:t>in complex environments it can be worth rewriting your python </a:t>
            </a:r>
            <a:r>
              <a:rPr lang="en-US" sz="2400" dirty="0" err="1">
                <a:ea typeface="Cambria Math"/>
              </a:rPr>
              <a:t>steppables</a:t>
            </a:r>
            <a:r>
              <a:rPr lang="en-US" sz="2400" dirty="0">
                <a:ea typeface="Cambria Math"/>
              </a:rPr>
              <a:t> as C++ </a:t>
            </a:r>
            <a:r>
              <a:rPr lang="en-US" sz="2400" dirty="0" err="1">
                <a:ea typeface="Cambria Math"/>
              </a:rPr>
              <a:t>steppables</a:t>
            </a:r>
            <a:r>
              <a:rPr lang="en-US" sz="2400" dirty="0">
                <a:ea typeface="Cambria Math"/>
              </a:rPr>
              <a:t> </a:t>
            </a:r>
          </a:p>
          <a:p>
            <a:pPr>
              <a:buAutoNum type="arabicPeriod"/>
            </a:pPr>
            <a:r>
              <a:rPr lang="en-US" sz="2400" dirty="0">
                <a:ea typeface="Cambria Math"/>
              </a:rPr>
              <a:t>C++ allows us to </a:t>
            </a:r>
            <a:r>
              <a:rPr lang="en-US" sz="2400" b="1" i="1" dirty="0">
                <a:ea typeface="Cambria Math"/>
              </a:rPr>
              <a:t>interact directly </a:t>
            </a:r>
            <a:r>
              <a:rPr lang="en-US" sz="2400" dirty="0">
                <a:ea typeface="Cambria Math"/>
              </a:rPr>
              <a:t>with the inner most loop, allowing modifications of the energy functional on a </a:t>
            </a:r>
            <a:r>
              <a:rPr lang="en-US" sz="2400" b="1" i="1" dirty="0">
                <a:ea typeface="Cambria Math"/>
              </a:rPr>
              <a:t>sub-</a:t>
            </a:r>
            <a:r>
              <a:rPr lang="en-US" sz="2400" b="1" i="1" dirty="0" err="1">
                <a:ea typeface="Cambria Math"/>
              </a:rPr>
              <a:t>mcs</a:t>
            </a:r>
            <a:r>
              <a:rPr lang="en-US" sz="2400" dirty="0">
                <a:ea typeface="Cambria Math"/>
              </a:rPr>
              <a:t> frequency</a:t>
            </a:r>
          </a:p>
          <a:p>
            <a:pPr lvl="1">
              <a:buAutoNum type="arabicPeriod"/>
            </a:pPr>
            <a:r>
              <a:rPr lang="en-US" sz="1800" b="1" dirty="0">
                <a:ea typeface="Cambria Math"/>
              </a:rPr>
              <a:t>Compiling and utilizing the C++ level lets you edit the copy attempt probability itself!</a:t>
            </a:r>
          </a:p>
          <a:p>
            <a:pPr marL="0" indent="0">
              <a:buNone/>
            </a:pPr>
            <a:r>
              <a:rPr lang="en-US" sz="2400" i="1" dirty="0">
                <a:ea typeface="Cambria Math"/>
              </a:rPr>
              <a:t>All the plugins used during the previous sessions are written using this same pipeline!</a:t>
            </a:r>
          </a:p>
        </p:txBody>
      </p:sp>
      <p:pic>
        <p:nvPicPr>
          <p:cNvPr id="4" name="Google Shape;114;p3" descr="redblackblockiu">
            <a:extLst>
              <a:ext uri="{FF2B5EF4-FFF2-40B4-BE49-F238E27FC236}">
                <a16:creationId xmlns:a16="http://schemas.microsoft.com/office/drawing/2014/main" id="{E38EC264-3034-3953-6134-07C20508A29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79369"/>
            <a:ext cx="363141" cy="47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6136087C-D4DB-592A-A744-829A95F21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15;p3">
            <a:extLst>
              <a:ext uri="{FF2B5EF4-FFF2-40B4-BE49-F238E27FC236}">
                <a16:creationId xmlns:a16="http://schemas.microsoft.com/office/drawing/2014/main" id="{F5B7E28E-EA1B-0F6B-B94D-6E31E23F4C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0325" y="0"/>
            <a:ext cx="593675" cy="617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433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7CC1-A45B-6C6A-E666-32BF63DB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F18FF7-8066-CD4A-7418-1799E8309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836219"/>
            <a:ext cx="4086225" cy="4053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8E6B25-142F-8DC3-5D32-508FD327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9.1.1 An example problem utilizing plug ins: Cell spreading (</a:t>
            </a:r>
            <a:r>
              <a:rPr lang="de-DE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</a:t>
            </a:r>
            <a:br>
              <a:rPr lang="de-DE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Schwarz 2014)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ECA1-7D63-7954-2E19-4300EEF65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324" y="1646238"/>
            <a:ext cx="45720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ea typeface="Cambria Math"/>
              </a:rPr>
              <a:t>We will be creating a plug in based on part of the energy functional in </a:t>
            </a:r>
            <a:r>
              <a:rPr lang="en-US" sz="2400" b="1" dirty="0">
                <a:ea typeface="Cambria Math"/>
              </a:rPr>
              <a:t>Dynamics of Cell Shape and Forces on Micropatterned Substrates Predicted by a Cellular Potts Model.</a:t>
            </a:r>
          </a:p>
          <a:p>
            <a:pPr marL="0" indent="0">
              <a:buNone/>
            </a:pPr>
            <a:r>
              <a:rPr lang="en-US" sz="2400" dirty="0"/>
              <a:t>We will create a cc3d module that tracks and dynamically effects the energy dependent on adhesive contacts.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</p:txBody>
      </p:sp>
      <p:pic>
        <p:nvPicPr>
          <p:cNvPr id="4" name="Google Shape;114;p3" descr="redblackblockiu">
            <a:extLst>
              <a:ext uri="{FF2B5EF4-FFF2-40B4-BE49-F238E27FC236}">
                <a16:creationId xmlns:a16="http://schemas.microsoft.com/office/drawing/2014/main" id="{4962E98A-09EC-AE40-4052-B1588A29F5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379369"/>
            <a:ext cx="363141" cy="47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793AFEED-D109-4184-4408-84ACDE969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15;p3">
            <a:extLst>
              <a:ext uri="{FF2B5EF4-FFF2-40B4-BE49-F238E27FC236}">
                <a16:creationId xmlns:a16="http://schemas.microsoft.com/office/drawing/2014/main" id="{D9BADEDD-B614-6CC0-49A6-D2333CD484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032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B502A0-DB19-A5CB-7657-226F0EA86BAD}"/>
              </a:ext>
            </a:extLst>
          </p:cNvPr>
          <p:cNvSpPr txBox="1"/>
          <p:nvPr/>
        </p:nvSpPr>
        <p:spPr>
          <a:xfrm>
            <a:off x="4710113" y="5899078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b="1" dirty="0"/>
              <a:t>Albert, P. J., &amp; Schwarz, U. S. (2014). Dynamics of cell shape and forces on micropatterned substrates predicted by a cellular Potts model. </a:t>
            </a:r>
            <a:r>
              <a:rPr lang="en-US" sz="1000" b="1" i="1" dirty="0"/>
              <a:t>Biophysical Journal, 106</a:t>
            </a:r>
            <a:r>
              <a:rPr lang="en-US" sz="1000" b="1" dirty="0"/>
              <a:t>(11), 2340–2352. </a:t>
            </a:r>
            <a:r>
              <a:rPr lang="en-US" sz="1000" b="1" dirty="0">
                <a:hlinkClick r:id="rId6"/>
              </a:rPr>
              <a:t>https://doi.org/10.1016/j.bpj.2014.04.036</a:t>
            </a:r>
            <a:endParaRPr lang="en-US" sz="1000" b="1" i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0311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DB203-A6BE-B4C9-DDBD-5F84F423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80AB98-D35C-6808-2087-D50F193B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200"/>
            <a:ext cx="7988711" cy="6731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A9BB1-E1D2-C449-FB55-8B514167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9.1.1 Why does this need a plug in?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2DCF3-0A01-1F54-014B-CB0C2F761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404040"/>
                </a:solidFill>
                <a:latin typeface="Lato" panose="020F0502020204030203" pitchFamily="34" charset="0"/>
              </a:rPr>
              <a:t>They define the energy functional as:</a:t>
            </a: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b="1" i="1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b="1" i="1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b="1" i="1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b="1" i="1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en-US" sz="2400" b="1" i="1" dirty="0">
                <a:solidFill>
                  <a:srgbClr val="404040"/>
                </a:solidFill>
                <a:latin typeface="Lato" panose="020F0502020204030203" pitchFamily="34" charset="0"/>
              </a:rPr>
              <a:t>We will focus on only adding the 4</a:t>
            </a:r>
            <a:r>
              <a:rPr lang="en-US" altLang="en-US" sz="2400" b="1" i="1" baseline="30000" dirty="0">
                <a:solidFill>
                  <a:srgbClr val="404040"/>
                </a:solidFill>
                <a:latin typeface="Lato" panose="020F0502020204030203" pitchFamily="34" charset="0"/>
              </a:rPr>
              <a:t>th</a:t>
            </a:r>
            <a:r>
              <a:rPr lang="en-US" altLang="en-US" sz="2400" b="1" i="1" dirty="0">
                <a:solidFill>
                  <a:srgbClr val="404040"/>
                </a:solidFill>
                <a:latin typeface="Lato" panose="020F0502020204030203" pitchFamily="34" charset="0"/>
              </a:rPr>
              <a:t> term in this exercise: 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404040"/>
                </a:solidFill>
                <a:latin typeface="Lato" panose="020F0502020204030203" pitchFamily="34" charset="0"/>
              </a:rPr>
              <a:t>we want to add some energy applied by a finite number of adhesive sites on a cell.</a:t>
            </a: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en-US" b="1" i="1" dirty="0">
                <a:solidFill>
                  <a:srgbClr val="404040"/>
                </a:solidFill>
                <a:latin typeface="Lato" panose="020F0502020204030203" pitchFamily="34" charset="0"/>
              </a:rPr>
              <a:t>How could we implement this?</a:t>
            </a:r>
            <a:endParaRPr lang="en-US" b="1" i="1" dirty="0">
              <a:ea typeface="Cambria Math"/>
            </a:endParaRPr>
          </a:p>
        </p:txBody>
      </p:sp>
      <p:pic>
        <p:nvPicPr>
          <p:cNvPr id="4" name="Google Shape;114;p3" descr="redblackblockiu">
            <a:extLst>
              <a:ext uri="{FF2B5EF4-FFF2-40B4-BE49-F238E27FC236}">
                <a16:creationId xmlns:a16="http://schemas.microsoft.com/office/drawing/2014/main" id="{9B986029-9A82-9174-C453-28E14D19CF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379369"/>
            <a:ext cx="363141" cy="47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A22B120B-E9E0-EDF3-3CE6-6D9E6E9C4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15;p3">
            <a:extLst>
              <a:ext uri="{FF2B5EF4-FFF2-40B4-BE49-F238E27FC236}">
                <a16:creationId xmlns:a16="http://schemas.microsoft.com/office/drawing/2014/main" id="{9A21E996-2CAE-73AD-F997-C2309B44E1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032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638E02-9CD1-547C-7D6A-36AA86EB72CC}"/>
              </a:ext>
            </a:extLst>
          </p:cNvPr>
          <p:cNvCxnSpPr/>
          <p:nvPr/>
        </p:nvCxnSpPr>
        <p:spPr>
          <a:xfrm flipV="1">
            <a:off x="1219200" y="2438400"/>
            <a:ext cx="3048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4A126B-E008-6AC0-841B-EF359330DEB3}"/>
              </a:ext>
            </a:extLst>
          </p:cNvPr>
          <p:cNvCxnSpPr>
            <a:cxnSpLocks/>
          </p:cNvCxnSpPr>
          <p:nvPr/>
        </p:nvCxnSpPr>
        <p:spPr>
          <a:xfrm flipV="1">
            <a:off x="2529435" y="24384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E13879-5B39-6B86-337A-07338CA6FE05}"/>
              </a:ext>
            </a:extLst>
          </p:cNvPr>
          <p:cNvCxnSpPr>
            <a:cxnSpLocks/>
          </p:cNvCxnSpPr>
          <p:nvPr/>
        </p:nvCxnSpPr>
        <p:spPr>
          <a:xfrm flipV="1">
            <a:off x="4800600" y="2463835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B5650C-BBA5-A8DB-A8AE-D8A12276D18B}"/>
              </a:ext>
            </a:extLst>
          </p:cNvPr>
          <p:cNvCxnSpPr>
            <a:cxnSpLocks/>
          </p:cNvCxnSpPr>
          <p:nvPr/>
        </p:nvCxnSpPr>
        <p:spPr>
          <a:xfrm flipH="1" flipV="1">
            <a:off x="7467600" y="2514600"/>
            <a:ext cx="4572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FDB54AE-2C22-6FCF-8EBB-FAA26DF99138}"/>
              </a:ext>
            </a:extLst>
          </p:cNvPr>
          <p:cNvSpPr txBox="1"/>
          <p:nvPr/>
        </p:nvSpPr>
        <p:spPr>
          <a:xfrm>
            <a:off x="260968" y="2729116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Surface tension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B727FD-1620-7791-1877-67A4BDC83886}"/>
              </a:ext>
            </a:extLst>
          </p:cNvPr>
          <p:cNvSpPr txBox="1"/>
          <p:nvPr/>
        </p:nvSpPr>
        <p:spPr>
          <a:xfrm>
            <a:off x="2244869" y="2729116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Line tension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EAF7DB-9331-F2E4-A979-8CAB621D6C6A}"/>
              </a:ext>
            </a:extLst>
          </p:cNvPr>
          <p:cNvSpPr txBox="1"/>
          <p:nvPr/>
        </p:nvSpPr>
        <p:spPr>
          <a:xfrm>
            <a:off x="3733800" y="2735262"/>
            <a:ext cx="333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Actin edge fiber contribution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B724F7-764C-4949-67B7-54BADB647450}"/>
              </a:ext>
            </a:extLst>
          </p:cNvPr>
          <p:cNvSpPr txBox="1"/>
          <p:nvPr/>
        </p:nvSpPr>
        <p:spPr>
          <a:xfrm>
            <a:off x="7015909" y="271566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Adhesive energy</a:t>
            </a:r>
          </a:p>
        </p:txBody>
      </p:sp>
    </p:spTree>
    <p:extLst>
      <p:ext uri="{BB962C8B-B14F-4D97-AF65-F5344CB8AC3E}">
        <p14:creationId xmlns:p14="http://schemas.microsoft.com/office/powerpoint/2010/main" val="17773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3119-D0D5-0058-AF8E-1481DB12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B263AF0F-F542-79D7-75F7-6D1CEE4E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545598"/>
            <a:ext cx="4559534" cy="8763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7076C-705B-1652-B743-8F546BF45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191000"/>
          </a:xfrm>
        </p:spPr>
        <p:txBody>
          <a:bodyPr/>
          <a:lstStyle/>
          <a:p>
            <a:pPr marL="0" lvl="0" indent="0">
              <a:spcBef>
                <a:spcPct val="0"/>
              </a:spcBef>
              <a:buNone/>
            </a:pPr>
            <a:endParaRPr lang="en-US" altLang="en-US" sz="2400" b="1" i="1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b="1" i="1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404040"/>
                </a:solidFill>
                <a:latin typeface="Lato" panose="020F0502020204030203" pitchFamily="34" charset="0"/>
              </a:rPr>
              <a:t>Is the energy contribution, so our change in energy would look like:</a:t>
            </a: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en-US" sz="24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404040"/>
                </a:solidFill>
                <a:latin typeface="Lato" panose="020F0502020204030203" pitchFamily="34" charset="0"/>
              </a:rPr>
              <a:t>To implement this term, We will need to modify the acceptance </a:t>
            </a:r>
            <a:r>
              <a:rPr lang="en-US" altLang="en-US" sz="2400" b="1" i="1" dirty="0">
                <a:solidFill>
                  <a:srgbClr val="404040"/>
                </a:solidFill>
                <a:latin typeface="Lato" panose="020F0502020204030203" pitchFamily="34" charset="0"/>
              </a:rPr>
              <a:t>Evaluation (Energy Function). 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404040"/>
                </a:solidFill>
                <a:latin typeface="Lato" panose="020F0502020204030203" pitchFamily="34" charset="0"/>
              </a:rPr>
              <a:t>We will also need to know when we have an </a:t>
            </a:r>
            <a:r>
              <a:rPr lang="en-US" altLang="en-US" sz="2400" b="1" i="1" dirty="0">
                <a:solidFill>
                  <a:srgbClr val="404040"/>
                </a:solidFill>
                <a:latin typeface="Lato" panose="020F0502020204030203" pitchFamily="34" charset="0"/>
              </a:rPr>
              <a:t>Acceptance </a:t>
            </a:r>
            <a:r>
              <a:rPr lang="en-US" altLang="en-US" sz="2400" dirty="0">
                <a:solidFill>
                  <a:srgbClr val="404040"/>
                </a:solidFill>
                <a:latin typeface="Lato" panose="020F0502020204030203" pitchFamily="34" charset="0"/>
              </a:rPr>
              <a:t>event </a:t>
            </a:r>
            <a:r>
              <a:rPr lang="en-US" altLang="en-US" sz="2400" b="1" i="1" dirty="0">
                <a:solidFill>
                  <a:srgbClr val="404040"/>
                </a:solidFill>
                <a:latin typeface="Lato" panose="020F0502020204030203" pitchFamily="34" charset="0"/>
              </a:rPr>
              <a:t>(Lattice Monitors) </a:t>
            </a:r>
            <a:r>
              <a:rPr lang="en-US" altLang="en-US" sz="2400" dirty="0">
                <a:solidFill>
                  <a:srgbClr val="404040"/>
                </a:solidFill>
                <a:latin typeface="Lato" panose="020F0502020204030203" pitchFamily="34" charset="0"/>
              </a:rPr>
              <a:t>to change the cell occupancy</a:t>
            </a:r>
            <a:r>
              <a:rPr lang="en-US" altLang="en-US" sz="2400" b="1" i="1" dirty="0">
                <a:solidFill>
                  <a:srgbClr val="404040"/>
                </a:solidFill>
                <a:latin typeface="Lato" panose="020F0502020204030203" pitchFamily="34" charset="0"/>
              </a:rPr>
              <a:t>. </a:t>
            </a:r>
          </a:p>
          <a:p>
            <a:pPr marL="0" lvl="0" indent="0">
              <a:spcBef>
                <a:spcPct val="0"/>
              </a:spcBef>
              <a:buNone/>
            </a:pPr>
            <a:endParaRPr lang="en-US" sz="2400" b="1" i="1" dirty="0">
              <a:solidFill>
                <a:srgbClr val="404040"/>
              </a:solidFill>
              <a:latin typeface="Lato" panose="020F0502020204030203" pitchFamily="34" charset="0"/>
              <a:ea typeface="Cambria Math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sz="3600" b="1" i="1" dirty="0">
                <a:solidFill>
                  <a:srgbClr val="404040"/>
                </a:solidFill>
                <a:latin typeface="Lato" panose="020F0502020204030203" pitchFamily="34" charset="0"/>
                <a:ea typeface="Cambria Math"/>
              </a:rPr>
              <a:t>But first we need to compile CC3D</a:t>
            </a:r>
            <a:endParaRPr lang="en-US" sz="3600" i="1" dirty="0">
              <a:ea typeface="Cambria Math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85AB64-B2CF-CE1C-C912-36972C9B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645"/>
          <a:stretch>
            <a:fillRect/>
          </a:stretch>
        </p:blipFill>
        <p:spPr>
          <a:xfrm>
            <a:off x="609600" y="1295400"/>
            <a:ext cx="2025555" cy="6731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5BC22-07F1-3527-9A49-DF963680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9.1.1 Why does this need a plug in?</a:t>
            </a:r>
            <a:endParaRPr lang="en-US" sz="3600" dirty="0"/>
          </a:p>
        </p:txBody>
      </p:sp>
      <p:pic>
        <p:nvPicPr>
          <p:cNvPr id="4" name="Google Shape;114;p3" descr="redblackblockiu">
            <a:extLst>
              <a:ext uri="{FF2B5EF4-FFF2-40B4-BE49-F238E27FC236}">
                <a16:creationId xmlns:a16="http://schemas.microsoft.com/office/drawing/2014/main" id="{D6553E8F-9C8D-4DEF-7F96-202EEA4FE8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9369"/>
            <a:ext cx="363141" cy="47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C730B79A-209C-D2A6-47DB-AACCB14B3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15;p3">
            <a:extLst>
              <a:ext uri="{FF2B5EF4-FFF2-40B4-BE49-F238E27FC236}">
                <a16:creationId xmlns:a16="http://schemas.microsoft.com/office/drawing/2014/main" id="{B96E0600-380D-2131-3DB4-5B92DE23362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50325" y="0"/>
            <a:ext cx="593675" cy="617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933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6673-F5C7-1F9C-A6E3-9D3A6A3D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8403-6E9A-3EEC-72DB-B72A161D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9.1.2 What is needed to compile cc3d?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E88C-B687-6C2E-7998-0446480F9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sz="2400" dirty="0">
                <a:ea typeface="Cambria Math"/>
              </a:rPr>
              <a:t>A Copy of CC3D’s core code through Git, we will be using 4.9 in these examples (the current default path)</a:t>
            </a:r>
          </a:p>
          <a:p>
            <a:r>
              <a:rPr lang="en-US" sz="2400" b="1" dirty="0" err="1">
                <a:ea typeface="Cambria Math"/>
              </a:rPr>
              <a:t>Miniforge</a:t>
            </a:r>
            <a:r>
              <a:rPr lang="en-US" sz="2400" b="1" dirty="0">
                <a:ea typeface="Cambria Math"/>
              </a:rPr>
              <a:t>/</a:t>
            </a:r>
            <a:r>
              <a:rPr lang="en-US" sz="2400" dirty="0" err="1">
                <a:ea typeface="Cambria Math"/>
              </a:rPr>
              <a:t>Miniconda</a:t>
            </a:r>
            <a:r>
              <a:rPr lang="en-US" sz="2400" dirty="0">
                <a:ea typeface="Cambria Math"/>
              </a:rPr>
              <a:t>/</a:t>
            </a:r>
            <a:r>
              <a:rPr lang="en-US" sz="2400" dirty="0" err="1">
                <a:ea typeface="Cambria Math"/>
              </a:rPr>
              <a:t>Aniconda</a:t>
            </a:r>
            <a:endParaRPr lang="en-US" sz="2400" b="1" dirty="0">
              <a:ea typeface="Cambria Math"/>
            </a:endParaRPr>
          </a:p>
          <a:p>
            <a:r>
              <a:rPr lang="en-US" sz="2400" dirty="0">
                <a:ea typeface="Cambria Math"/>
              </a:rPr>
              <a:t>A Compiler</a:t>
            </a:r>
          </a:p>
          <a:p>
            <a:pPr lvl="1"/>
            <a:r>
              <a:rPr lang="en-US" sz="1800" dirty="0">
                <a:ea typeface="Cambria Math"/>
              </a:rPr>
              <a:t>There are some differences in OS for this step…</a:t>
            </a:r>
          </a:p>
          <a:p>
            <a:r>
              <a:rPr lang="en-US" sz="2400" dirty="0">
                <a:solidFill>
                  <a:srgbClr val="3A3A3A"/>
                </a:solidFill>
                <a:ea typeface="Cambria Math"/>
              </a:rPr>
              <a:t>We will focus on using Windows for this module, but I will cover how to set up Linux and mac environments</a:t>
            </a:r>
          </a:p>
          <a:p>
            <a:endParaRPr lang="en-US" sz="1600" dirty="0">
              <a:ea typeface="Cambria Math"/>
            </a:endParaRPr>
          </a:p>
          <a:p>
            <a:pPr lvl="1"/>
            <a:endParaRPr lang="en-US" sz="1200" dirty="0">
              <a:ea typeface="Cambria Math"/>
            </a:endParaRP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C08288EB-05F8-9BCF-9604-7B373668F6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dblackblockiu">
            <a:extLst>
              <a:ext uri="{FF2B5EF4-FFF2-40B4-BE49-F238E27FC236}">
                <a16:creationId xmlns:a16="http://schemas.microsoft.com/office/drawing/2014/main" id="{4918E9CF-1651-6143-D85A-71E15532F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Biocomplexity Logo">
            <a:extLst>
              <a:ext uri="{FF2B5EF4-FFF2-40B4-BE49-F238E27FC236}">
                <a16:creationId xmlns:a16="http://schemas.microsoft.com/office/drawing/2014/main" id="{54C88318-E261-ACC2-DB83-55AAA497F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1707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3BAC-2E2B-3C30-DBAB-C3E19A1A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61EC306-B52A-36C5-D780-0531D12A7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86037"/>
            <a:ext cx="7635875" cy="27719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5100C-849F-F1CD-0783-798D4A2B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9.1.3 Getting your own copy of CC3D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1BC2-6FD6-E7CC-0497-B18B990BC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>
                <a:ea typeface="Cambria Math"/>
              </a:rPr>
              <a:t>For ALL OS: </a:t>
            </a:r>
            <a:r>
              <a:rPr lang="en-US" sz="1600" dirty="0">
                <a:ea typeface="Cambria Math"/>
              </a:rPr>
              <a:t>You need to copy the CC3D </a:t>
            </a:r>
            <a:r>
              <a:rPr lang="en-US" sz="1600" dirty="0" err="1">
                <a:ea typeface="Cambria Math"/>
              </a:rPr>
              <a:t>Github</a:t>
            </a:r>
            <a:r>
              <a:rPr lang="en-US" sz="1600" dirty="0">
                <a:ea typeface="Cambria Math"/>
              </a:rPr>
              <a:t> Repo</a:t>
            </a:r>
          </a:p>
          <a:p>
            <a:r>
              <a:rPr lang="en-US" sz="1600" dirty="0">
                <a:ea typeface="Cambria Math"/>
              </a:rPr>
              <a:t>If you wish to contribute to core cc3d core</a:t>
            </a:r>
          </a:p>
          <a:p>
            <a:pPr lvl="1"/>
            <a:r>
              <a:rPr lang="en-US" sz="1200" dirty="0">
                <a:ea typeface="Cambria Math"/>
              </a:rPr>
              <a:t>First fork the repo, then clone from your repository</a:t>
            </a:r>
          </a:p>
          <a:p>
            <a:pPr lvl="2"/>
            <a:r>
              <a:rPr lang="en-US" altLang="en-US" sz="800" b="1" dirty="0">
                <a:solidFill>
                  <a:srgbClr val="333333"/>
                </a:solidFill>
                <a:latin typeface="SFMono-Regular"/>
              </a:rPr>
              <a:t>cd </a:t>
            </a:r>
            <a:r>
              <a:rPr lang="en-US" altLang="en-US" sz="800" b="1" dirty="0" err="1">
                <a:solidFill>
                  <a:srgbClr val="333333"/>
                </a:solidFill>
                <a:latin typeface="SFMono-Regular"/>
              </a:rPr>
              <a:t>SOME_PATH</a:t>
            </a:r>
            <a:endParaRPr lang="en-US" altLang="en-US" sz="800" b="1" dirty="0">
              <a:solidFill>
                <a:srgbClr val="404040"/>
              </a:solidFill>
              <a:latin typeface="SFMono-Regular"/>
            </a:endParaRPr>
          </a:p>
          <a:p>
            <a:pPr lvl="2"/>
            <a:r>
              <a:rPr lang="en-US" altLang="en-US" sz="800" b="1" dirty="0">
                <a:solidFill>
                  <a:srgbClr val="333333"/>
                </a:solidFill>
                <a:latin typeface="SFMono-Regular"/>
              </a:rPr>
              <a:t>git clone git@github.com:&lt;</a:t>
            </a:r>
            <a:r>
              <a:rPr lang="en-US" altLang="en-US" sz="800" b="1" dirty="0" err="1">
                <a:solidFill>
                  <a:srgbClr val="333333"/>
                </a:solidFill>
                <a:latin typeface="SFMono-Regular"/>
              </a:rPr>
              <a:t>your_github_name</a:t>
            </a:r>
            <a:r>
              <a:rPr lang="en-US" altLang="en-US" sz="800" b="1" dirty="0">
                <a:solidFill>
                  <a:srgbClr val="333333"/>
                </a:solidFill>
                <a:latin typeface="SFMono-Regular"/>
              </a:rPr>
              <a:t>&gt;/CompuCell3D.git</a:t>
            </a:r>
            <a:r>
              <a:rPr lang="en-US" altLang="en-US" sz="300" b="1" dirty="0"/>
              <a:t> </a:t>
            </a:r>
            <a:endParaRPr lang="en-US" altLang="en-US" sz="2800" b="1" dirty="0">
              <a:latin typeface="Arial" panose="020B0604020202020204" pitchFamily="34" charset="0"/>
            </a:endParaRPr>
          </a:p>
          <a:p>
            <a:r>
              <a:rPr lang="en-US" sz="1600" dirty="0">
                <a:ea typeface="Cambria Math"/>
              </a:rPr>
              <a:t>If not, then just clone the CC3D repository</a:t>
            </a:r>
          </a:p>
          <a:p>
            <a:pPr lvl="1"/>
            <a:r>
              <a:rPr lang="en-US" altLang="en-US" sz="1200" b="1" dirty="0">
                <a:solidFill>
                  <a:srgbClr val="333333"/>
                </a:solidFill>
                <a:latin typeface="SFMono-Regular"/>
              </a:rPr>
              <a:t>cd </a:t>
            </a:r>
            <a:r>
              <a:rPr lang="en-US" altLang="en-US" sz="1200" b="1" dirty="0" err="1">
                <a:solidFill>
                  <a:srgbClr val="333333"/>
                </a:solidFill>
                <a:latin typeface="SFMono-Regular"/>
              </a:rPr>
              <a:t>SOME_PATH</a:t>
            </a:r>
            <a:endParaRPr lang="en-US" altLang="en-US" sz="1200" b="1" dirty="0">
              <a:solidFill>
                <a:srgbClr val="404040"/>
              </a:solidFill>
              <a:latin typeface="SFMono-Regular"/>
            </a:endParaRPr>
          </a:p>
          <a:p>
            <a:pPr lvl="1"/>
            <a:r>
              <a:rPr lang="en-US" altLang="en-US" sz="1200" b="1" dirty="0">
                <a:solidFill>
                  <a:srgbClr val="333333"/>
                </a:solidFill>
                <a:latin typeface="SFMono-Regular"/>
              </a:rPr>
              <a:t>git clone https://github.com/CompuCell3D/CompuCell3D.git</a:t>
            </a:r>
            <a:r>
              <a:rPr lang="en-US" altLang="en-US" sz="700" b="1" dirty="0"/>
              <a:t> </a:t>
            </a:r>
          </a:p>
          <a:p>
            <a:r>
              <a:rPr lang="en-US" altLang="en-US" sz="1600" dirty="0"/>
              <a:t>If you are extremely lazy you can download the zip file from </a:t>
            </a:r>
            <a:r>
              <a:rPr lang="en-US" altLang="en-US" sz="1600" dirty="0" err="1"/>
              <a:t>github</a:t>
            </a:r>
            <a:r>
              <a:rPr lang="en-US" altLang="en-US" sz="1600" dirty="0"/>
              <a:t> and unzip on your local pc</a:t>
            </a:r>
          </a:p>
          <a:p>
            <a:r>
              <a:rPr lang="en-US" altLang="en-US" sz="2000" b="1" dirty="0">
                <a:latin typeface="Arial" panose="020B0604020202020204" pitchFamily="34" charset="0"/>
              </a:rPr>
              <a:t>Remember the paths to this repo clone!</a:t>
            </a:r>
          </a:p>
          <a:p>
            <a:pPr lvl="1"/>
            <a:endParaRPr lang="en-US" sz="1200" dirty="0">
              <a:ea typeface="Cambria Math"/>
            </a:endParaRPr>
          </a:p>
          <a:p>
            <a:pPr lvl="1"/>
            <a:endParaRPr lang="en-US" sz="1200" dirty="0">
              <a:ea typeface="Cambria Math"/>
            </a:endParaRPr>
          </a:p>
          <a:p>
            <a:pPr lvl="1"/>
            <a:endParaRPr lang="en-US" sz="1200" dirty="0">
              <a:ea typeface="Cambria Math"/>
            </a:endParaRP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3FA63903-05DF-8A0F-CD7C-4CBE6065F1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dblackblockiu">
            <a:extLst>
              <a:ext uri="{FF2B5EF4-FFF2-40B4-BE49-F238E27FC236}">
                <a16:creationId xmlns:a16="http://schemas.microsoft.com/office/drawing/2014/main" id="{900D8F71-CCB3-EAA3-D578-58F4BBA1B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Biocomplexity Logo">
            <a:extLst>
              <a:ext uri="{FF2B5EF4-FFF2-40B4-BE49-F238E27FC236}">
                <a16:creationId xmlns:a16="http://schemas.microsoft.com/office/drawing/2014/main" id="{4297231A-705F-35E0-7C0C-BF75C3F4A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3BDABE74-A146-77AB-C79C-F73A387E05EB}"/>
              </a:ext>
            </a:extLst>
          </p:cNvPr>
          <p:cNvSpPr/>
          <p:nvPr/>
        </p:nvSpPr>
        <p:spPr>
          <a:xfrm>
            <a:off x="6629400" y="4086036"/>
            <a:ext cx="990600" cy="33356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05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A0D8-7C47-3935-1B7C-68AAC808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63A8-8BAC-9528-1026-1BEBBA0E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9.1.3 Getting your own copy of CC3D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0153E-DF16-D628-BBF9-64155964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>
                <a:ea typeface="Cambria Math"/>
              </a:rPr>
              <a:t>For player and </a:t>
            </a:r>
            <a:r>
              <a:rPr lang="en-US" sz="1600" b="1" i="1" dirty="0" err="1">
                <a:ea typeface="Cambria Math"/>
              </a:rPr>
              <a:t>tweddit</a:t>
            </a:r>
            <a:r>
              <a:rPr lang="en-US" sz="1600" b="1" i="1" dirty="0">
                <a:ea typeface="Cambria Math"/>
              </a:rPr>
              <a:t>: </a:t>
            </a:r>
            <a:r>
              <a:rPr lang="en-US" sz="1600" dirty="0">
                <a:ea typeface="Cambria Math"/>
              </a:rPr>
              <a:t>You need to additionally copy the </a:t>
            </a:r>
            <a:r>
              <a:rPr lang="en-US" sz="1600" dirty="0" err="1">
                <a:ea typeface="Cambria Math"/>
              </a:rPr>
              <a:t>tweddit</a:t>
            </a:r>
            <a:r>
              <a:rPr lang="en-US" sz="1600" dirty="0">
                <a:ea typeface="Cambria Math"/>
              </a:rPr>
              <a:t> and player repos</a:t>
            </a:r>
          </a:p>
          <a:p>
            <a:pPr lvl="1"/>
            <a:r>
              <a:rPr lang="en-US" altLang="en-US" sz="1200" b="1" dirty="0">
                <a:solidFill>
                  <a:srgbClr val="333333"/>
                </a:solidFill>
              </a:rPr>
              <a:t>cd </a:t>
            </a:r>
            <a:r>
              <a:rPr lang="en-US" altLang="en-US" sz="1200" b="1" dirty="0" err="1">
                <a:solidFill>
                  <a:srgbClr val="333333"/>
                </a:solidFill>
              </a:rPr>
              <a:t>SOME_PATH</a:t>
            </a:r>
            <a:endParaRPr lang="en-US" altLang="en-US" sz="1200" b="1" dirty="0">
              <a:solidFill>
                <a:srgbClr val="404040"/>
              </a:solidFill>
            </a:endParaRPr>
          </a:p>
          <a:p>
            <a:pPr lvl="1"/>
            <a:r>
              <a:rPr lang="en-US" altLang="en-US" sz="1200" b="1" dirty="0">
                <a:solidFill>
                  <a:srgbClr val="333333"/>
                </a:solidFill>
              </a:rPr>
              <a:t>git clone https://github.com/CompuCell3D/cc3d-player5.git</a:t>
            </a:r>
            <a:endParaRPr lang="en-US" altLang="en-US" sz="1200" b="1" dirty="0">
              <a:solidFill>
                <a:srgbClr val="404040"/>
              </a:solidFill>
            </a:endParaRPr>
          </a:p>
          <a:p>
            <a:pPr lvl="1"/>
            <a:r>
              <a:rPr lang="en-US" altLang="en-US" sz="1200" b="1" dirty="0">
                <a:solidFill>
                  <a:srgbClr val="333333"/>
                </a:solidFill>
              </a:rPr>
              <a:t>git clone https://github.com/CompuCell3D/cc3d-twedit5.git</a:t>
            </a:r>
            <a:endParaRPr lang="en-US" altLang="en-US" sz="1200" b="1" dirty="0"/>
          </a:p>
          <a:p>
            <a:r>
              <a:rPr lang="en-US" altLang="en-US" sz="1600" dirty="0"/>
              <a:t>As before, you can download the zip files from </a:t>
            </a:r>
            <a:r>
              <a:rPr lang="en-US" altLang="en-US" sz="1600" dirty="0" err="1"/>
              <a:t>github</a:t>
            </a:r>
            <a:r>
              <a:rPr lang="en-US" altLang="en-US" sz="1600" dirty="0"/>
              <a:t> and unzip on your local pc</a:t>
            </a:r>
            <a:endParaRPr lang="en-US" sz="1200" dirty="0">
              <a:ea typeface="Cambria Math"/>
            </a:endParaRPr>
          </a:p>
          <a:p>
            <a:pPr lvl="1"/>
            <a:endParaRPr lang="en-US" sz="1200" dirty="0">
              <a:ea typeface="Cambria Math"/>
            </a:endParaRPr>
          </a:p>
          <a:p>
            <a:pPr lvl="1"/>
            <a:endParaRPr lang="en-US" sz="1200" dirty="0">
              <a:ea typeface="Cambria Math"/>
            </a:endParaRP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B1ED3967-3C16-9392-792F-437530E32A7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dblackblockiu">
            <a:extLst>
              <a:ext uri="{FF2B5EF4-FFF2-40B4-BE49-F238E27FC236}">
                <a16:creationId xmlns:a16="http://schemas.microsoft.com/office/drawing/2014/main" id="{283DA7D2-FFCC-03C9-F0BC-9D99D579A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Biocomplexity Logo">
            <a:extLst>
              <a:ext uri="{FF2B5EF4-FFF2-40B4-BE49-F238E27FC236}">
                <a16:creationId xmlns:a16="http://schemas.microsoft.com/office/drawing/2014/main" id="{3ACC7C09-6DE2-D5D4-3069-FAABACE6D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5379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442F-C78E-EF05-2FAD-3FB20E86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1819-CE8F-6BED-6BE4-9CB393C3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9.1.4 Getting compilers for CC3D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C9C5A-5B4F-CF5A-01DC-20E182CD8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ea typeface="Cambria Math"/>
              </a:rPr>
              <a:t>For Linux:</a:t>
            </a:r>
          </a:p>
          <a:p>
            <a:r>
              <a:rPr lang="en-US" sz="1600" dirty="0">
                <a:solidFill>
                  <a:srgbClr val="3A3A3A"/>
                </a:solidFill>
                <a:ea typeface="Cambria Math"/>
              </a:rPr>
              <a:t>OpenGL (included)</a:t>
            </a:r>
          </a:p>
          <a:p>
            <a:pPr lvl="1"/>
            <a:r>
              <a:rPr lang="en-US" sz="1100" dirty="0">
                <a:solidFill>
                  <a:srgbClr val="3A3A3A"/>
                </a:solidFill>
                <a:ea typeface="Cambria Math"/>
              </a:rPr>
              <a:t>Note: </a:t>
            </a:r>
            <a:r>
              <a:rPr lang="en-US" altLang="en-US" sz="1100" dirty="0">
                <a:solidFill>
                  <a:srgbClr val="404040"/>
                </a:solidFill>
              </a:rPr>
              <a:t>The two OpenGL options (</a:t>
            </a:r>
            <a:r>
              <a:rPr lang="en-US" altLang="en-US" sz="1100" dirty="0">
                <a:solidFill>
                  <a:srgbClr val="E74C3C"/>
                </a:solidFill>
              </a:rPr>
              <a:t>-DOPENGL_gl_LIBRARY=/usr/lib/x86_64-linux-gnu/libGL.so</a:t>
            </a:r>
            <a:r>
              <a:rPr lang="en-US" altLang="en-US" sz="1100" dirty="0">
                <a:solidFill>
                  <a:srgbClr val="404040"/>
                </a:solidFill>
              </a:rPr>
              <a:t> and </a:t>
            </a:r>
            <a:r>
              <a:rPr lang="en-US" altLang="en-US" sz="1100" dirty="0">
                <a:solidFill>
                  <a:srgbClr val="E74C3C"/>
                </a:solidFill>
              </a:rPr>
              <a:t>-DOPENGL_glx_LIBRARY=/usr/lib/x86_64-linux-gnu/libGLX.so</a:t>
            </a:r>
            <a:r>
              <a:rPr lang="en-US" altLang="en-US" sz="1100" dirty="0">
                <a:solidFill>
                  <a:srgbClr val="404040"/>
                </a:solidFill>
              </a:rPr>
              <a:t>) work only on Ubuntu. If you are compiling CC3D on different distribution </a:t>
            </a:r>
            <a:r>
              <a:rPr lang="en-US" altLang="en-US" sz="1100" dirty="0" err="1">
                <a:solidFill>
                  <a:srgbClr val="404040"/>
                </a:solidFill>
              </a:rPr>
              <a:t>e.g</a:t>
            </a:r>
            <a:r>
              <a:rPr lang="en-US" altLang="en-US" sz="1100" dirty="0">
                <a:solidFill>
                  <a:srgbClr val="404040"/>
                </a:solidFill>
              </a:rPr>
              <a:t> RedHat you may need to adjust those. </a:t>
            </a:r>
          </a:p>
          <a:p>
            <a:r>
              <a:rPr lang="en-US" sz="2000" dirty="0">
                <a:solidFill>
                  <a:srgbClr val="3A3A3A"/>
                </a:solidFill>
                <a:ea typeface="Cambria Math"/>
              </a:rPr>
              <a:t>For Mac:</a:t>
            </a:r>
          </a:p>
          <a:p>
            <a:pPr lvl="1"/>
            <a:r>
              <a:rPr lang="en-US" sz="1200" b="0" i="0" dirty="0">
                <a:solidFill>
                  <a:srgbClr val="3A3A3A"/>
                </a:solidFill>
                <a:effectLst/>
              </a:rPr>
              <a:t>In order to compile entire CC3D code on Mac you need to install </a:t>
            </a:r>
            <a:r>
              <a:rPr lang="en-US" sz="1200" b="0" i="0" dirty="0" err="1">
                <a:solidFill>
                  <a:srgbClr val="3A3A3A"/>
                </a:solidFill>
                <a:effectLst/>
              </a:rPr>
              <a:t>OSX</a:t>
            </a:r>
            <a:r>
              <a:rPr lang="en-US" sz="1200" b="0" i="0" dirty="0">
                <a:solidFill>
                  <a:srgbClr val="3A3A3A"/>
                </a:solidFill>
                <a:effectLst/>
              </a:rPr>
              <a:t> core developer tools:</a:t>
            </a:r>
            <a:endParaRPr lang="en-US" sz="1200" dirty="0">
              <a:solidFill>
                <a:srgbClr val="3A3A3A"/>
              </a:solidFill>
              <a:ea typeface="Cambria Math"/>
            </a:endParaRPr>
          </a:p>
          <a:p>
            <a:pPr lvl="2"/>
            <a:r>
              <a:rPr lang="en-US" altLang="en-US" sz="800" b="1" dirty="0" err="1">
                <a:solidFill>
                  <a:srgbClr val="3A3A3A"/>
                </a:solidFill>
              </a:rPr>
              <a:t>xcode</a:t>
            </a:r>
            <a:r>
              <a:rPr lang="en-US" altLang="en-US" sz="800" b="1" dirty="0">
                <a:solidFill>
                  <a:srgbClr val="3A3A3A"/>
                </a:solidFill>
              </a:rPr>
              <a:t>-select --install</a:t>
            </a:r>
            <a:r>
              <a:rPr lang="en-US" altLang="en-US" sz="100" b="1" dirty="0">
                <a:solidFill>
                  <a:srgbClr val="3A3A3A"/>
                </a:solidFill>
              </a:rPr>
              <a:t> </a:t>
            </a:r>
            <a:endParaRPr lang="en-US" sz="1200" dirty="0">
              <a:solidFill>
                <a:srgbClr val="3A3A3A"/>
              </a:solidFill>
              <a:ea typeface="Cambria Math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3A3A3A"/>
                </a:solidFill>
                <a:ea typeface="Cambria Math"/>
              </a:rPr>
              <a:t>For Windows:</a:t>
            </a:r>
          </a:p>
          <a:p>
            <a:r>
              <a:rPr lang="en-US" sz="1600" b="1" dirty="0">
                <a:solidFill>
                  <a:srgbClr val="3A3A3A"/>
                </a:solidFill>
                <a:ea typeface="Cambria Math"/>
              </a:rPr>
              <a:t>VS2026</a:t>
            </a:r>
          </a:p>
          <a:p>
            <a:pPr lvl="1"/>
            <a:r>
              <a:rPr lang="en-US" sz="1200" b="1" dirty="0">
                <a:solidFill>
                  <a:srgbClr val="3A3A3A"/>
                </a:solidFill>
                <a:ea typeface="Cambria Math"/>
              </a:rPr>
              <a:t>When installing make sure Desktop development with C++ is selected. To include after installation use: Tools </a:t>
            </a:r>
            <a:r>
              <a:rPr lang="en-US" sz="1200" b="1" dirty="0">
                <a:solidFill>
                  <a:srgbClr val="3A3A3A"/>
                </a:solidFill>
                <a:ea typeface="Cambria Math"/>
                <a:sym typeface="Wingdings" panose="05000000000000000000" pitchFamily="2" charset="2"/>
              </a:rPr>
              <a:t></a:t>
            </a:r>
            <a:r>
              <a:rPr lang="en-US" sz="1200" b="1" dirty="0">
                <a:solidFill>
                  <a:srgbClr val="3A3A3A"/>
                </a:solidFill>
                <a:ea typeface="Cambria Math"/>
              </a:rPr>
              <a:t> Get Tools and Features.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3C7D552D-ECA6-2A47-EA5B-C9F696F18C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dblackblockiu">
            <a:extLst>
              <a:ext uri="{FF2B5EF4-FFF2-40B4-BE49-F238E27FC236}">
                <a16:creationId xmlns:a16="http://schemas.microsoft.com/office/drawing/2014/main" id="{25D35495-59D3-2B97-82F2-BDD9DD733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Biocomplexity Logo">
            <a:extLst>
              <a:ext uri="{FF2B5EF4-FFF2-40B4-BE49-F238E27FC236}">
                <a16:creationId xmlns:a16="http://schemas.microsoft.com/office/drawing/2014/main" id="{5B227499-AD47-A940-9691-53BCDDD37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2C3DC80A-AC43-721F-9A58-8B8D4D75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774636"/>
            <a:ext cx="3534916" cy="193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D41F2F40-8274-6D80-A63F-2253D990B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41" y="5110935"/>
            <a:ext cx="3962400" cy="126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4B83AC3-B6C9-6FB8-3569-54D494E81A5B}"/>
              </a:ext>
            </a:extLst>
          </p:cNvPr>
          <p:cNvSpPr/>
          <p:nvPr/>
        </p:nvSpPr>
        <p:spPr>
          <a:xfrm>
            <a:off x="2638358" y="5104796"/>
            <a:ext cx="12954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71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06AD-EE31-2CD6-DC0D-8FE63F39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36B9-541D-6051-29B0-3B734AE8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9.1.5 Set up your </a:t>
            </a:r>
            <a:r>
              <a:rPr lang="en-US" sz="3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conda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environment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89831-D77C-39E4-16A2-4F34E7D09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5353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1" dirty="0">
                <a:ea typeface="Cambria Math"/>
              </a:rPr>
              <a:t>For Windows:</a:t>
            </a:r>
          </a:p>
          <a:p>
            <a:r>
              <a:rPr lang="en-US" sz="2400" dirty="0">
                <a:ea typeface="Cambria Math"/>
              </a:rPr>
              <a:t>In </a:t>
            </a:r>
            <a:r>
              <a:rPr lang="en-US" sz="2400" dirty="0" err="1">
                <a:ea typeface="Cambria Math"/>
              </a:rPr>
              <a:t>miniconda</a:t>
            </a:r>
            <a:r>
              <a:rPr lang="en-US" sz="2400" dirty="0">
                <a:ea typeface="Cambria Math"/>
              </a:rPr>
              <a:t>/</a:t>
            </a:r>
            <a:r>
              <a:rPr lang="en-US" sz="2400" dirty="0" err="1">
                <a:ea typeface="Cambria Math"/>
              </a:rPr>
              <a:t>miniforge</a:t>
            </a:r>
            <a:r>
              <a:rPr lang="en-US" sz="2400" dirty="0">
                <a:ea typeface="Cambria Math"/>
              </a:rPr>
              <a:t>: </a:t>
            </a:r>
          </a:p>
          <a:p>
            <a:pPr lvl="1"/>
            <a:r>
              <a:rPr lang="en-US" sz="1800" dirty="0">
                <a:ea typeface="Cambria Math"/>
              </a:rPr>
              <a:t>Create the environment, you may have to run this command elevated</a:t>
            </a:r>
          </a:p>
          <a:p>
            <a:pPr lvl="2"/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mamba env create -f %</a:t>
            </a:r>
            <a:r>
              <a:rPr kumimoji="0" lang="en-US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PATHTO</a:t>
            </a: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%/env-cc3d-2026.yaml</a:t>
            </a:r>
          </a:p>
          <a:p>
            <a:pPr lvl="3"/>
            <a:r>
              <a:rPr lang="en-US" sz="1400" dirty="0">
                <a:ea typeface="Cambria Math"/>
              </a:rPr>
              <a:t>Make sure you have mamba for faster installation speed (</a:t>
            </a:r>
            <a:r>
              <a:rPr lang="en-US" sz="1400" dirty="0" err="1">
                <a:ea typeface="Cambria Math"/>
              </a:rPr>
              <a:t>conda</a:t>
            </a:r>
            <a:r>
              <a:rPr lang="en-US" sz="1400" dirty="0">
                <a:ea typeface="Cambria Math"/>
              </a:rPr>
              <a:t> still works without mamba, but is SLOW)</a:t>
            </a:r>
          </a:p>
          <a:p>
            <a:pPr lvl="4"/>
            <a:r>
              <a:rPr lang="en-US" altLang="en-US" sz="1600" b="1" dirty="0" err="1">
                <a:solidFill>
                  <a:srgbClr val="333333"/>
                </a:solidFill>
              </a:rPr>
              <a:t>conda</a:t>
            </a:r>
            <a:r>
              <a:rPr lang="en-US" altLang="en-US" sz="1600" b="1" dirty="0">
                <a:solidFill>
                  <a:srgbClr val="333333"/>
                </a:solidFill>
              </a:rPr>
              <a:t> install -c </a:t>
            </a:r>
            <a:r>
              <a:rPr lang="en-US" altLang="en-US" sz="1600" b="1" dirty="0" err="1">
                <a:solidFill>
                  <a:srgbClr val="333333"/>
                </a:solidFill>
              </a:rPr>
              <a:t>conda</a:t>
            </a:r>
            <a:r>
              <a:rPr lang="en-US" altLang="en-US" sz="1600" b="1" dirty="0">
                <a:solidFill>
                  <a:srgbClr val="333333"/>
                </a:solidFill>
              </a:rPr>
              <a:t>-forge mamba</a:t>
            </a:r>
            <a:r>
              <a:rPr lang="en-US" altLang="en-US" sz="1600" b="1" dirty="0"/>
              <a:t> </a:t>
            </a:r>
          </a:p>
          <a:p>
            <a:r>
              <a:rPr lang="en-US" altLang="en-US" sz="2800" b="1" dirty="0"/>
              <a:t>For Mac/Linux:</a:t>
            </a:r>
          </a:p>
          <a:p>
            <a:pPr lvl="1"/>
            <a:r>
              <a:rPr lang="en-US" sz="1800" dirty="0"/>
              <a:t>cd ~/src-cc3d</a:t>
            </a:r>
          </a:p>
          <a:p>
            <a:pPr lvl="1"/>
            <a:r>
              <a:rPr lang="en-US" sz="1800" dirty="0"/>
              <a:t>mamba env create -f </a:t>
            </a:r>
            <a:r>
              <a:rPr lang="en-US" sz="1800" dirty="0" err="1"/>
              <a:t>environment.yaml</a:t>
            </a:r>
            <a:r>
              <a:rPr lang="en-US" sz="1800" dirty="0"/>
              <a:t> --name cc3d_compile</a:t>
            </a:r>
          </a:p>
          <a:p>
            <a:pPr lvl="1"/>
            <a:r>
              <a:rPr lang="en-US" altLang="en-US" sz="2400" b="1" i="1" dirty="0"/>
              <a:t>Please ask me for this </a:t>
            </a:r>
            <a:r>
              <a:rPr lang="en-US" altLang="en-US" sz="2400" b="1" i="1" dirty="0" err="1"/>
              <a:t>yaml</a:t>
            </a:r>
            <a:r>
              <a:rPr lang="en-US" altLang="en-US" sz="2400" b="1" i="1" dirty="0"/>
              <a:t> if you need it</a:t>
            </a:r>
          </a:p>
          <a:p>
            <a:pPr marL="0" indent="0">
              <a:buNone/>
            </a:pPr>
            <a:r>
              <a:rPr lang="en-US" altLang="en-US" sz="1100" b="1" dirty="0"/>
              <a:t>Windows: </a:t>
            </a:r>
            <a:r>
              <a:rPr lang="en-US" altLang="en-US" sz="1100" b="1" dirty="0">
                <a:hlinkClick r:id="rId2"/>
              </a:rPr>
              <a:t>https://compucell3ddevelopersmanual.readthedocs.io/en/master/building_core_cc3d_cpp_code_windows.html#visual-studio-2026</a:t>
            </a:r>
            <a:endParaRPr lang="en-US" altLang="en-US" sz="1100" b="1" dirty="0"/>
          </a:p>
          <a:p>
            <a:pPr marL="0" indent="0">
              <a:buNone/>
            </a:pPr>
            <a:r>
              <a:rPr lang="en-US" altLang="en-US" sz="1100" b="1" dirty="0"/>
              <a:t>Mac:</a:t>
            </a:r>
          </a:p>
          <a:p>
            <a:pPr marL="0" indent="0">
              <a:buNone/>
            </a:pPr>
            <a:r>
              <a:rPr lang="en-US" altLang="en-US" sz="1100" b="1" dirty="0">
                <a:hlinkClick r:id="rId3"/>
              </a:rPr>
              <a:t>https://compucell3ddevelopersmanual.readthedocs.io/en/master/building_core_cc3d_cpp_code_mac.html#mac-osx</a:t>
            </a:r>
            <a:endParaRPr lang="en-US" altLang="en-US" sz="1100" b="1" dirty="0"/>
          </a:p>
          <a:p>
            <a:pPr marL="0" indent="0">
              <a:buNone/>
            </a:pPr>
            <a:r>
              <a:rPr lang="en-US" altLang="en-US" sz="1100" b="1" dirty="0"/>
              <a:t>Linux:</a:t>
            </a:r>
          </a:p>
          <a:p>
            <a:pPr marL="0" indent="0">
              <a:buNone/>
            </a:pPr>
            <a:r>
              <a:rPr lang="en-US" altLang="en-US" sz="1100" b="1" dirty="0">
                <a:hlinkClick r:id="rId4"/>
              </a:rPr>
              <a:t>https://compucell3ddevelopersmanual.readthedocs.io/en/master/building_core_cc3d_cpp_code_linux.html#linux-ubuntu</a:t>
            </a:r>
            <a:endParaRPr lang="en-US" altLang="en-US" sz="1100" b="1" dirty="0"/>
          </a:p>
          <a:p>
            <a:pPr marL="0" indent="0">
              <a:buNone/>
            </a:pPr>
            <a:endParaRPr lang="en-US" altLang="en-US" sz="1400" b="1" dirty="0"/>
          </a:p>
          <a:p>
            <a:pPr marL="0" indent="0">
              <a:buNone/>
            </a:pPr>
            <a:endParaRPr lang="en-US" altLang="en-US" sz="1400" b="1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8E7D953-BE8A-C23A-6EAF-DDBC0FC2BF4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dblackblockiu">
            <a:extLst>
              <a:ext uri="{FF2B5EF4-FFF2-40B4-BE49-F238E27FC236}">
                <a16:creationId xmlns:a16="http://schemas.microsoft.com/office/drawing/2014/main" id="{6DD2694E-E5EC-9FA2-A168-187D20AD8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Biocomplexity Logo">
            <a:extLst>
              <a:ext uri="{FF2B5EF4-FFF2-40B4-BE49-F238E27FC236}">
                <a16:creationId xmlns:a16="http://schemas.microsoft.com/office/drawing/2014/main" id="{CC10B1B5-9391-A2CB-C692-54E0511C8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597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BE84AF-00AE-2F43-C850-43F79562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FD02-9136-94DC-E1FC-6FB1301F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9.1.S1 </a:t>
            </a:r>
            <a:r>
              <a:rPr lang="en-US" sz="3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Addional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Mac information (may or may not be needed)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14404-3DE3-F178-4CCF-5B51674B8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rtl="0"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Install SDK into /opt. If your max uses Intel processor you will need MacOSX10.10.sdk and if your Mac uses on Apple processors (M1, M2, …) you will need MacOSX11.3.sdk. To get those SDKs visit </a:t>
            </a:r>
            <a:r>
              <a:rPr lang="en-US" sz="1600" b="0" i="0" u="sng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https://github.com/phracker/MacOSX-SDKs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lang="en-US" sz="1600" b="0" i="0" u="sng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https://github.com/phracker/MacOSX-SDKs/releases/tag/11.3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en-US" sz="1050" b="0" dirty="0">
              <a:effectLst/>
            </a:endParaRPr>
          </a:p>
          <a:p>
            <a:pPr rtl="0">
              <a:buNone/>
            </a:pPr>
            <a:br>
              <a:rPr lang="en-US" sz="105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Unpack them into /opt so that your /opt directory looks as follows:</a:t>
            </a:r>
            <a:endParaRPr lang="en-US" sz="1050" b="0" dirty="0">
              <a:effectLst/>
            </a:endParaRPr>
          </a:p>
          <a:p>
            <a:pPr>
              <a:buNone/>
            </a:pPr>
            <a:br>
              <a:rPr lang="en-US" sz="1050" dirty="0"/>
            </a:br>
            <a:endParaRPr lang="en-US" sz="1200" b="1" dirty="0">
              <a:solidFill>
                <a:srgbClr val="3A3A3A"/>
              </a:solidFill>
              <a:ea typeface="Cambria Math"/>
            </a:endParaRP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D68B4A0C-F95A-5B33-CE83-B8B0F23D4C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dblackblockiu">
            <a:extLst>
              <a:ext uri="{FF2B5EF4-FFF2-40B4-BE49-F238E27FC236}">
                <a16:creationId xmlns:a16="http://schemas.microsoft.com/office/drawing/2014/main" id="{E2478156-3AC1-2BD0-8FBB-B47E7C37A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Biocomplexity Logo">
            <a:extLst>
              <a:ext uri="{FF2B5EF4-FFF2-40B4-BE49-F238E27FC236}">
                <a16:creationId xmlns:a16="http://schemas.microsoft.com/office/drawing/2014/main" id="{C2CFE02B-9D26-84A1-13D5-56BBDE4CB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F3E7FC9D-BFD9-936F-99F3-CB381DB5C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0"/>
            <a:ext cx="27051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BAD6F1-6E9A-EC79-DB44-588690475B96}"/>
              </a:ext>
            </a:extLst>
          </p:cNvPr>
          <p:cNvSpPr txBox="1"/>
          <p:nvPr/>
        </p:nvSpPr>
        <p:spPr>
          <a:xfrm>
            <a:off x="533400" y="4038600"/>
            <a:ext cx="86868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you happen to be on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OSX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if you are using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conda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it is likely that after you issue the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command used to compile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DeveloperZone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modules  you may encounter the following error:</a:t>
            </a:r>
            <a:endParaRPr lang="en-US" sz="1600" b="0" dirty="0">
              <a:effectLst/>
            </a:endParaRPr>
          </a:p>
          <a:p>
            <a:pPr rtl="0">
              <a:buNone/>
            </a:pPr>
            <a:br>
              <a:rPr lang="en-US" sz="1600" b="0" dirty="0">
                <a:effectLst/>
              </a:rPr>
            </a:br>
            <a:r>
              <a:rPr lang="en-US" sz="1600" b="1" i="0" u="none" strike="noStrike" dirty="0" err="1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ld</a:t>
            </a:r>
            <a:r>
              <a:rPr lang="en-US" sz="1600" b="1" i="0" u="none" strike="noStrike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: unsupported </a:t>
            </a:r>
            <a:r>
              <a:rPr lang="en-US" sz="1600" b="1" i="0" u="none" strike="noStrike" dirty="0" err="1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tapi</a:t>
            </a:r>
            <a:r>
              <a:rPr lang="en-US" sz="1600" b="1" i="0" u="none" strike="noStrike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 file type '!</a:t>
            </a:r>
            <a:r>
              <a:rPr lang="en-US" sz="1600" b="1" i="0" u="none" strike="noStrike" dirty="0" err="1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tapi-tbd</a:t>
            </a:r>
            <a:r>
              <a:rPr lang="en-US" sz="1600" b="1" i="0" u="none" strike="noStrike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' in YAML file</a:t>
            </a:r>
            <a:endParaRPr lang="en-US" sz="1600" b="0" dirty="0">
              <a:effectLst/>
            </a:endParaRPr>
          </a:p>
          <a:p>
            <a:pPr rtl="0">
              <a:buNone/>
            </a:pP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this case you should deactivate base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conda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environment by typing </a:t>
            </a:r>
            <a:endParaRPr lang="en-US" sz="1600" b="0" dirty="0">
              <a:effectLst/>
            </a:endParaRPr>
          </a:p>
          <a:p>
            <a:pPr rtl="0">
              <a:buNone/>
            </a:pPr>
            <a:br>
              <a:rPr lang="en-US" sz="1600" b="0" dirty="0">
                <a:effectLst/>
              </a:rPr>
            </a:b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conda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deactivate</a:t>
            </a:r>
            <a:endParaRPr lang="en-US" sz="1600" b="0" dirty="0">
              <a:effectLst/>
            </a:endParaRPr>
          </a:p>
          <a:p>
            <a:pPr rtl="0">
              <a:buNone/>
            </a:pP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Into the terminal from which you are executing compilation step  and trying again</a:t>
            </a:r>
            <a:endParaRPr lang="en-US" sz="1600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94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8F2C-E8C1-5FAE-84F8-74F38935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BED3-83C0-CF40-694D-D5A30B78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9.1.6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up the environment and </a:t>
            </a:r>
            <a:r>
              <a:rPr lang="en-US" altLang="en-US" sz="3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filepaths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9F49D-9DDA-853B-30F6-20A63BAA3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Activate your mamba/</a:t>
            </a:r>
            <a:r>
              <a:rPr lang="en-US" altLang="en-US" sz="2000" dirty="0" err="1">
                <a:solidFill>
                  <a:srgbClr val="000000"/>
                </a:solidFill>
                <a:cs typeface="Calibri" panose="020F0502020204030204" pitchFamily="34" charset="0"/>
              </a:rPr>
              <a:t>conda</a:t>
            </a: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 environment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	</a:t>
            </a:r>
            <a:r>
              <a:rPr lang="en-US" altLang="en-US" sz="2000" dirty="0" err="1"/>
              <a:t>conda</a:t>
            </a:r>
            <a:r>
              <a:rPr lang="en-US" altLang="en-US" sz="2000" dirty="0"/>
              <a:t> activate </a:t>
            </a:r>
            <a:r>
              <a:rPr lang="en-US" altLang="en-US" sz="2000" dirty="0" err="1"/>
              <a:t>ENV_NAME</a:t>
            </a:r>
            <a:endParaRPr lang="en-US" altLang="en-US" sz="20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Run your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cmake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 command : These are VERY exact. Be careful with dashes and spaces!</a:t>
            </a:r>
          </a:p>
          <a:p>
            <a:pPr marL="400050" lvl="1" indent="0"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For </a:t>
            </a:r>
            <a:r>
              <a:rPr lang="en-US" sz="1600" dirty="0">
                <a:solidFill>
                  <a:srgbClr val="000000"/>
                </a:solidFill>
              </a:rPr>
              <a:t>Windows VS2026:</a:t>
            </a:r>
          </a:p>
          <a:p>
            <a:pPr marL="800100" lvl="2" indent="0">
              <a:buNone/>
            </a:pPr>
            <a:r>
              <a:rPr lang="en-US" sz="1200" dirty="0" err="1">
                <a:solidFill>
                  <a:srgbClr val="000000"/>
                </a:solidFill>
              </a:rPr>
              <a:t>cmake</a:t>
            </a:r>
            <a:r>
              <a:rPr lang="en-US" sz="1200" dirty="0">
                <a:solidFill>
                  <a:srgbClr val="000000"/>
                </a:solidFill>
              </a:rPr>
              <a:t> -S </a:t>
            </a:r>
            <a:r>
              <a:rPr lang="en-US" sz="1200" dirty="0">
                <a:solidFill>
                  <a:srgbClr val="FF0000"/>
                </a:solidFill>
              </a:rPr>
              <a:t>&lt;PATH TO CompuCell3D REPO&gt;</a:t>
            </a:r>
            <a:r>
              <a:rPr lang="en-US" sz="1200" dirty="0">
                <a:solidFill>
                  <a:srgbClr val="000000"/>
                </a:solidFill>
              </a:rPr>
              <a:t>/CompuCell3D -B </a:t>
            </a:r>
            <a:r>
              <a:rPr lang="en-US" sz="1200" dirty="0">
                <a:solidFill>
                  <a:srgbClr val="FF0000"/>
                </a:solidFill>
              </a:rPr>
              <a:t>&lt;</a:t>
            </a:r>
            <a:r>
              <a:rPr lang="en-US" sz="1200" dirty="0" err="1">
                <a:solidFill>
                  <a:srgbClr val="FF0000"/>
                </a:solidFill>
              </a:rPr>
              <a:t>dir</a:t>
            </a:r>
            <a:r>
              <a:rPr lang="en-US" sz="1200" dirty="0">
                <a:solidFill>
                  <a:srgbClr val="FF0000"/>
                </a:solidFill>
              </a:rPr>
              <a:t> to store build files&gt;</a:t>
            </a:r>
            <a:r>
              <a:rPr lang="en-US" sz="1200" dirty="0">
                <a:solidFill>
                  <a:srgbClr val="000000"/>
                </a:solidFill>
              </a:rPr>
              <a:t> -DPython3_EXECUTABLE=%</a:t>
            </a:r>
            <a:r>
              <a:rPr lang="en-US" sz="1200" dirty="0" err="1">
                <a:solidFill>
                  <a:srgbClr val="000000"/>
                </a:solidFill>
              </a:rPr>
              <a:t>CONDA_PREFIX</a:t>
            </a:r>
            <a:r>
              <a:rPr lang="en-US" sz="1200" dirty="0">
                <a:solidFill>
                  <a:srgbClr val="000000"/>
                </a:solidFill>
              </a:rPr>
              <a:t>%\python.exe -</a:t>
            </a:r>
            <a:r>
              <a:rPr lang="en-US" sz="1200" dirty="0" err="1">
                <a:solidFill>
                  <a:srgbClr val="000000"/>
                </a:solidFill>
              </a:rPr>
              <a:t>DNO_OPENCL</a:t>
            </a:r>
            <a:r>
              <a:rPr lang="en-US" sz="1200" dirty="0">
                <a:solidFill>
                  <a:srgbClr val="000000"/>
                </a:solidFill>
              </a:rPr>
              <a:t>=ON -</a:t>
            </a:r>
            <a:r>
              <a:rPr lang="en-US" sz="1200" dirty="0" err="1">
                <a:solidFill>
                  <a:srgbClr val="000000"/>
                </a:solidFill>
              </a:rPr>
              <a:t>DBUILD_STANDALONE</a:t>
            </a:r>
            <a:r>
              <a:rPr lang="en-US" sz="1200" dirty="0">
                <a:solidFill>
                  <a:srgbClr val="000000"/>
                </a:solidFill>
              </a:rPr>
              <a:t>=OFF -G "Visual Studio 18 2026" -A x64 -</a:t>
            </a:r>
            <a:r>
              <a:rPr lang="en-US" sz="1200" dirty="0" err="1">
                <a:solidFill>
                  <a:srgbClr val="000000"/>
                </a:solidFill>
              </a:rPr>
              <a:t>DCMAKE_INSTALL_PREFIX</a:t>
            </a:r>
            <a:r>
              <a:rPr lang="en-US" sz="1200" dirty="0">
                <a:solidFill>
                  <a:srgbClr val="000000"/>
                </a:solidFill>
              </a:rPr>
              <a:t>=</a:t>
            </a:r>
            <a:r>
              <a:rPr lang="en-US" sz="1200" dirty="0">
                <a:solidFill>
                  <a:srgbClr val="FF0000"/>
                </a:solidFill>
              </a:rPr>
              <a:t>&lt;</a:t>
            </a:r>
            <a:r>
              <a:rPr lang="en-US" sz="1200" dirty="0" err="1">
                <a:solidFill>
                  <a:srgbClr val="FF0000"/>
                </a:solidFill>
              </a:rPr>
              <a:t>dir</a:t>
            </a:r>
            <a:r>
              <a:rPr lang="en-US" sz="1200" dirty="0">
                <a:solidFill>
                  <a:srgbClr val="FF0000"/>
                </a:solidFill>
              </a:rPr>
              <a:t> where compiled CompuCell3D will be written to&gt;</a:t>
            </a:r>
          </a:p>
          <a:p>
            <a:pPr marL="800100" lvl="2" indent="0">
              <a:buNone/>
            </a:pPr>
            <a:r>
              <a:rPr lang="en-US" sz="1200" dirty="0">
                <a:solidFill>
                  <a:srgbClr val="FF0000"/>
                </a:solidFill>
              </a:rPr>
              <a:t>	</a:t>
            </a:r>
            <a:r>
              <a:rPr lang="en-US" sz="800" dirty="0">
                <a:solidFill>
                  <a:srgbClr val="3A3A3A"/>
                </a:solidFill>
              </a:rPr>
              <a:t>If using VS2015 or VS2019 change to </a:t>
            </a:r>
            <a:r>
              <a:rPr lang="en-US" altLang="en-US" sz="800" dirty="0">
                <a:solidFill>
                  <a:srgbClr val="3A3A3A"/>
                </a:solidFill>
                <a:latin typeface="SFMono-Regular"/>
              </a:rPr>
              <a:t>-G "Visual Studio 14 2015 Win64"</a:t>
            </a:r>
            <a:r>
              <a:rPr lang="en-US" altLang="en-US" sz="200" dirty="0">
                <a:solidFill>
                  <a:srgbClr val="3A3A3A"/>
                </a:solidFill>
              </a:rPr>
              <a:t> </a:t>
            </a:r>
            <a:r>
              <a:rPr lang="en-US" sz="800" dirty="0">
                <a:solidFill>
                  <a:srgbClr val="3A3A3A"/>
                </a:solidFill>
              </a:rPr>
              <a:t> or </a:t>
            </a:r>
            <a:r>
              <a:rPr lang="en-US" sz="800" dirty="0">
                <a:solidFill>
                  <a:srgbClr val="000000"/>
                </a:solidFill>
              </a:rPr>
              <a:t>"Visual Studio 16 2019" respectively</a:t>
            </a:r>
            <a:endParaRPr lang="en-US" sz="800" b="0" i="0" u="none" strike="noStrike" dirty="0">
              <a:solidFill>
                <a:srgbClr val="3A3A3A"/>
              </a:solidFill>
              <a:effectLst/>
            </a:endParaRPr>
          </a:p>
          <a:p>
            <a:pPr marL="400050" lvl="1" indent="0">
              <a:buNone/>
            </a:pPr>
            <a:r>
              <a:rPr lang="en-US" sz="1600" dirty="0">
                <a:solidFill>
                  <a:srgbClr val="3A3A3A"/>
                </a:solidFill>
              </a:rPr>
              <a:t>For Mac:</a:t>
            </a:r>
          </a:p>
          <a:p>
            <a:pPr marL="800100" lvl="2" indent="0">
              <a:buNone/>
            </a:pP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cmake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 -S ~/src-cc3d/CompuCell3D/CompuCell3D -B ~/src-cc3d/CompuCell3D_build -DPython3_EXECUTABLE=$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CONDA_PREFIX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/bin/python -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DNO_OPENCL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=ON  -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DBUILD_STANDALONE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=OFF -G "Unix 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Makefiles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" -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DCMAKE_INSTALL_PREFIX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=~/src-cc3d/CompuCell3D_install</a:t>
            </a:r>
          </a:p>
          <a:p>
            <a:pPr marL="400050" lvl="1" indent="0">
              <a:buNone/>
            </a:pPr>
            <a:r>
              <a:rPr lang="en-US" sz="1600" b="0" i="0" u="none" strike="noStrike" dirty="0">
                <a:solidFill>
                  <a:srgbClr val="3A3A3A"/>
                </a:solidFill>
                <a:effectLst/>
              </a:rPr>
              <a:t>For Linux:</a:t>
            </a:r>
          </a:p>
          <a:p>
            <a:pPr marL="800100" lvl="2" indent="0">
              <a:buNone/>
            </a:pP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cmake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 -S ~/src-cc3d/CompuCell3D/CompuCell3D -B ~/src-cc3d/CompuCell3D_build -DPython3_EXECUTABLE=$HOME/miniconda3/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envs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/cc3d-compile/bin/python -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DNO_OPENCL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=ON  -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DBUILD_STANDALONE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=OFF -DOPENGL_gl_LIBRARY=/usr/lib/x86_64-linux-gnu/libGL.so -DOPENGL_glx_LIBRARY=/usr/lib/x86_64-linux-gnu/libGLX.so -G "Unix 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Makefiles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" -</a:t>
            </a:r>
            <a:r>
              <a:rPr lang="en-US" altLang="en-US" sz="1200" dirty="0" err="1">
                <a:solidFill>
                  <a:srgbClr val="333333"/>
                </a:solidFill>
                <a:latin typeface="SFMono-Regular"/>
              </a:rPr>
              <a:t>DCMAKE_INSTALL_PREFIX</a:t>
            </a:r>
            <a:r>
              <a:rPr lang="en-US" altLang="en-US" sz="1200" dirty="0">
                <a:solidFill>
                  <a:srgbClr val="333333"/>
                </a:solidFill>
                <a:latin typeface="SFMono-Regular"/>
              </a:rPr>
              <a:t>=~/src-cc3d/CompuCell3D_install</a:t>
            </a:r>
            <a:endParaRPr lang="en-US" dirty="0"/>
          </a:p>
          <a:p>
            <a:pPr marL="3543300" lvl="8" indent="0">
              <a:buNone/>
            </a:pPr>
            <a:endParaRPr lang="en-US" sz="800" dirty="0"/>
          </a:p>
        </p:txBody>
      </p:sp>
      <p:pic>
        <p:nvPicPr>
          <p:cNvPr id="6" name="Picture 5" descr="redblackblockiu">
            <a:extLst>
              <a:ext uri="{FF2B5EF4-FFF2-40B4-BE49-F238E27FC236}">
                <a16:creationId xmlns:a16="http://schemas.microsoft.com/office/drawing/2014/main" id="{9DC3C30B-6492-026E-04C8-5A3993B5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7" descr="Biocomplexity Logo">
            <a:extLst>
              <a:ext uri="{FF2B5EF4-FFF2-40B4-BE49-F238E27FC236}">
                <a16:creationId xmlns:a16="http://schemas.microsoft.com/office/drawing/2014/main" id="{31F8EE57-BC43-E30E-65B2-E3D476143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15;p3">
            <a:extLst>
              <a:ext uri="{FF2B5EF4-FFF2-40B4-BE49-F238E27FC236}">
                <a16:creationId xmlns:a16="http://schemas.microsoft.com/office/drawing/2014/main" id="{69ECCF69-F1FD-6745-D677-AA84AAEEC4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147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4F59-1F10-3876-FED3-2E7FBA9C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9.1.6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Cmake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outcome (Windows)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0FAD3-B28D-0CE5-B20E-78F70AEBF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3543300" lvl="8" indent="0">
              <a:buNone/>
            </a:pPr>
            <a:endParaRPr lang="en-US" sz="800" dirty="0"/>
          </a:p>
        </p:txBody>
      </p:sp>
      <p:pic>
        <p:nvPicPr>
          <p:cNvPr id="6" name="Picture 5" descr="redblackblockiu">
            <a:extLst>
              <a:ext uri="{FF2B5EF4-FFF2-40B4-BE49-F238E27FC236}">
                <a16:creationId xmlns:a16="http://schemas.microsoft.com/office/drawing/2014/main" id="{C908CAFB-503D-9AD1-EA0E-7A5F890DB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7" descr="Biocomplexity Logo">
            <a:extLst>
              <a:ext uri="{FF2B5EF4-FFF2-40B4-BE49-F238E27FC236}">
                <a16:creationId xmlns:a16="http://schemas.microsoft.com/office/drawing/2014/main" id="{ABA608AE-B766-4E1F-A2AB-BD63F1AB1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15;p3">
            <a:extLst>
              <a:ext uri="{FF2B5EF4-FFF2-40B4-BE49-F238E27FC236}">
                <a16:creationId xmlns:a16="http://schemas.microsoft.com/office/drawing/2014/main" id="{9255A93E-D8ED-7472-BF35-F657568C13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8315FE-04E5-62DA-2DA3-60DCD4CDAFE2}"/>
              </a:ext>
            </a:extLst>
          </p:cNvPr>
          <p:cNvSpPr txBox="1">
            <a:spLocks/>
          </p:cNvSpPr>
          <p:nvPr/>
        </p:nvSpPr>
        <p:spPr bwMode="auto">
          <a:xfrm>
            <a:off x="127972" y="1358113"/>
            <a:ext cx="8610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b="1" i="1" kern="0" dirty="0"/>
              <a:t>My </a:t>
            </a:r>
            <a:r>
              <a:rPr lang="en-US" sz="1800" b="1" i="1" kern="0" dirty="0" err="1"/>
              <a:t>cmake</a:t>
            </a:r>
            <a:r>
              <a:rPr lang="en-US" sz="1800" b="1" i="1" kern="0" dirty="0"/>
              <a:t> input:</a:t>
            </a:r>
          </a:p>
          <a:p>
            <a:pPr marL="0" indent="0">
              <a:buFontTx/>
              <a:buNone/>
            </a:pPr>
            <a:r>
              <a:rPr lang="en-US" sz="1800" kern="0" dirty="0" err="1"/>
              <a:t>cmake</a:t>
            </a:r>
            <a:r>
              <a:rPr lang="en-US" sz="1800" kern="0" dirty="0"/>
              <a:t> -S %</a:t>
            </a:r>
            <a:r>
              <a:rPr lang="en-US" sz="1800" kern="0" dirty="0" err="1"/>
              <a:t>USERPROFILE</a:t>
            </a:r>
            <a:r>
              <a:rPr lang="en-US" sz="1800" kern="0" dirty="0"/>
              <a:t>%/</a:t>
            </a:r>
            <a:r>
              <a:rPr lang="en-US" sz="1800" kern="0" dirty="0" err="1"/>
              <a:t>src</a:t>
            </a:r>
            <a:r>
              <a:rPr lang="en-US" sz="1800" kern="0" dirty="0"/>
              <a:t>/CompuCell3D/CompuCell3D -B %</a:t>
            </a:r>
            <a:r>
              <a:rPr lang="en-US" sz="1800" kern="0" dirty="0" err="1"/>
              <a:t>USERPROFILE</a:t>
            </a:r>
            <a:r>
              <a:rPr lang="en-US" sz="1800" kern="0" dirty="0"/>
              <a:t>%/</a:t>
            </a:r>
            <a:r>
              <a:rPr lang="en-US" sz="1800" kern="0" dirty="0" err="1"/>
              <a:t>src</a:t>
            </a:r>
            <a:r>
              <a:rPr lang="en-US" sz="1800" kern="0" dirty="0"/>
              <a:t>/CompuCell3D_build -DPython3_EXECUTABLE=%</a:t>
            </a:r>
            <a:r>
              <a:rPr lang="en-US" sz="1800" kern="0" dirty="0" err="1"/>
              <a:t>CONDA_PREFIX</a:t>
            </a:r>
            <a:r>
              <a:rPr lang="en-US" sz="1800" kern="0" dirty="0"/>
              <a:t>%\python.exe -</a:t>
            </a:r>
            <a:r>
              <a:rPr lang="en-US" sz="1800" kern="0" dirty="0" err="1"/>
              <a:t>DNO_OPENCL</a:t>
            </a:r>
            <a:r>
              <a:rPr lang="en-US" sz="1800" kern="0" dirty="0"/>
              <a:t>=ON -</a:t>
            </a:r>
            <a:r>
              <a:rPr lang="en-US" sz="1800" kern="0" dirty="0" err="1"/>
              <a:t>DBUILD_STANDALONE</a:t>
            </a:r>
            <a:r>
              <a:rPr lang="en-US" sz="1800" kern="0" dirty="0"/>
              <a:t>=OFF -G "Visual Studio 18 2026" -A x64 -</a:t>
            </a:r>
            <a:r>
              <a:rPr lang="en-US" sz="1800" kern="0" dirty="0" err="1"/>
              <a:t>DCMAKE_INSTALL_PREFIX</a:t>
            </a:r>
            <a:r>
              <a:rPr lang="en-US" sz="1800" kern="0" dirty="0"/>
              <a:t>=%</a:t>
            </a:r>
            <a:r>
              <a:rPr lang="en-US" sz="1800" kern="0" dirty="0" err="1"/>
              <a:t>USERPROFILE</a:t>
            </a:r>
            <a:r>
              <a:rPr lang="en-US" sz="1800" kern="0" dirty="0"/>
              <a:t>%/</a:t>
            </a:r>
            <a:r>
              <a:rPr lang="en-US" sz="1800" kern="0" dirty="0" err="1"/>
              <a:t>install_projects</a:t>
            </a:r>
            <a:r>
              <a:rPr lang="en-US" sz="1800" kern="0" dirty="0"/>
              <a:t>/cc3d-compile-2026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436D89-FF5B-D8CC-3076-7D4C4AD77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72" y="3528221"/>
            <a:ext cx="8967476" cy="266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67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7ECC-C809-5B28-B837-913AB10F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9.1.7 compile the solution (Windows)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9427-4A26-1486-D7FA-B230488F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Open Visual Studio, </a:t>
            </a:r>
            <a:r>
              <a:rPr lang="en-US" sz="1800" dirty="0" err="1"/>
              <a:t>File</a:t>
            </a:r>
            <a:r>
              <a:rPr lang="en-US" sz="1800" dirty="0" err="1">
                <a:sym typeface="Wingdings" panose="05000000000000000000" pitchFamily="2" charset="2"/>
              </a:rPr>
              <a:t>Open</a:t>
            </a:r>
            <a:r>
              <a:rPr lang="en-US" sz="1800" dirty="0">
                <a:sym typeface="Wingdings" panose="05000000000000000000" pitchFamily="2" charset="2"/>
              </a:rPr>
              <a:t> Project/Solution, select </a:t>
            </a:r>
            <a:r>
              <a:rPr lang="en-US" sz="1800" b="1" dirty="0" err="1">
                <a:sym typeface="Wingdings" panose="05000000000000000000" pitchFamily="2" charset="2"/>
              </a:rPr>
              <a:t>ALL_BUILD.vcxproj</a:t>
            </a:r>
            <a:r>
              <a:rPr lang="en-US" sz="1800" b="1" dirty="0">
                <a:sym typeface="Wingdings" panose="05000000000000000000" pitchFamily="2" charset="2"/>
              </a:rPr>
              <a:t> </a:t>
            </a:r>
            <a:r>
              <a:rPr lang="en-US" sz="1800" dirty="0">
                <a:sym typeface="Wingdings" panose="05000000000000000000" pitchFamily="2" charset="2"/>
              </a:rPr>
              <a:t>in your build folder: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Let us look at the solution explorer pane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i="1" dirty="0"/>
              <a:t>Note: </a:t>
            </a:r>
            <a:r>
              <a:rPr lang="en-US" sz="1800" dirty="0"/>
              <a:t>you can access source code from </a:t>
            </a:r>
          </a:p>
          <a:p>
            <a:pPr marL="0" indent="0">
              <a:buNone/>
            </a:pPr>
            <a:r>
              <a:rPr lang="en-US" sz="1800" dirty="0"/>
              <a:t>this pane, e.g. chemotaxis plugin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4446D89-CA02-647E-A6CE-673CEF29FC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D4C858DA-7DC8-052F-F1DA-82EA983B1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FDC2A1E8-FF51-D1CA-3C89-5A932D99B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D6E9F6-EA01-055E-881E-C9E0B31F7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209800"/>
            <a:ext cx="4240212" cy="10818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F5B6D9-AD72-777D-1A80-E1BC27969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812" y="1905000"/>
            <a:ext cx="3352800" cy="14386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A26A36-98C7-EDF6-A8BD-4964E6C0F3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612" y="3429000"/>
            <a:ext cx="1245729" cy="33495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ED284A-5062-7A3D-9940-09C9481A23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1" y="4833784"/>
            <a:ext cx="2895599" cy="121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70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1EF1-2BA1-743E-43CC-2907AC92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FC05-F5C9-4384-C9AE-6BFC09281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9.1.7 Compile the solution (Windows)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4457-DE9A-37F6-5C4A-78539A7C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Set debug to Release (this is to prevent windows from becoming upset with python linkers)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Build </a:t>
            </a:r>
            <a:r>
              <a:rPr lang="en-US" sz="1800" dirty="0" err="1"/>
              <a:t>ALL_BUILD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/>
              <a:t>Note</a:t>
            </a:r>
            <a:r>
              <a:rPr lang="en-US" sz="1800" i="1" dirty="0"/>
              <a:t>: if build fails check to make</a:t>
            </a:r>
          </a:p>
          <a:p>
            <a:pPr marL="0" indent="0">
              <a:buNone/>
            </a:pPr>
            <a:r>
              <a:rPr lang="en-US" sz="1800" i="1" dirty="0"/>
              <a:t>sure Release is selected. </a:t>
            </a:r>
          </a:p>
          <a:p>
            <a:pPr marL="0" indent="0">
              <a:buNone/>
            </a:pPr>
            <a:r>
              <a:rPr lang="en-US" sz="1800" dirty="0"/>
              <a:t>When complete:</a:t>
            </a:r>
          </a:p>
          <a:p>
            <a:pPr marL="0" indent="0">
              <a:buNone/>
            </a:pPr>
            <a:r>
              <a:rPr lang="en-US" sz="1800" dirty="0"/>
              <a:t>Build INSTALL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1A15E5A6-D770-B0EA-3BB5-5919CAFF8A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7B54D985-08FB-4061-0840-78759099E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821EA3E1-B0E8-5BBD-1CD6-876402B71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9F1F3C-3651-3D54-9960-A41707CE2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1913093"/>
            <a:ext cx="4724400" cy="12595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8C3B00-A8E8-35EA-06C0-588058722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851" y="3200400"/>
            <a:ext cx="2133600" cy="14988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FF71FD-FF3A-9F96-AA74-C608029314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9750" y="5587365"/>
            <a:ext cx="3154100" cy="1242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06D8EE-9384-7DA1-C3B5-151447549A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5711"/>
          <a:stretch>
            <a:fillRect/>
          </a:stretch>
        </p:blipFill>
        <p:spPr>
          <a:xfrm>
            <a:off x="531498" y="5169166"/>
            <a:ext cx="3353353" cy="33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54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2183-C97A-E7B9-7246-33E4C4A1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CB95-9F3D-4A0E-B0CC-C7F9E16E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9.1.7 Compile the solution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578E-C78D-48FB-8B29-DF55CC430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 sz="4400" dirty="0">
                <a:latin typeface="Arial" panose="020B0604020202020204" pitchFamily="34" charset="0"/>
              </a:rPr>
              <a:t>For other OS compilations please see: </a:t>
            </a:r>
            <a:r>
              <a:rPr lang="en-US" sz="4400" dirty="0">
                <a:hlinkClick r:id="rId2"/>
              </a:rPr>
              <a:t>https://compucell3ddevelopersmanual.readthedocs.io/en/master/index.html</a:t>
            </a:r>
            <a:endParaRPr lang="en-US" sz="4400" dirty="0"/>
          </a:p>
          <a:p>
            <a:pPr>
              <a:spcBef>
                <a:spcPct val="0"/>
              </a:spcBef>
            </a:pPr>
            <a:endParaRPr lang="en-US" altLang="en-US" sz="4400" dirty="0">
              <a:latin typeface="Arial" panose="020B0604020202020204" pitchFamily="34" charset="0"/>
            </a:endParaRP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435FF35-E4ED-CCBA-E054-79A06DD4AA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2BB57EF1-9A5D-6DE4-9EBB-316D53DD6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5B64E362-AD5F-E62D-7F44-B074CC853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1175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D007-D295-C0D3-9CF1-D7A850EE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14FF-6B16-7A6B-F51A-3F86C4CC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9.1.8 Open CC3D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CB827-2FC0-1FE6-8948-7F4332DDC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Congrats! You compiled (possibly)! To open and view the GUI you must do a few extra steps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First</a:t>
            </a:r>
            <a:r>
              <a:rPr lang="en-US" altLang="en-US" sz="2400" dirty="0">
                <a:latin typeface="Arial" panose="020B0604020202020204" pitchFamily="34" charset="0"/>
              </a:rPr>
              <a:t> find the location you saved the player and </a:t>
            </a:r>
            <a:r>
              <a:rPr lang="en-US" altLang="en-US" sz="2400" dirty="0" err="1">
                <a:latin typeface="Arial" panose="020B0604020202020204" pitchFamily="34" charset="0"/>
              </a:rPr>
              <a:t>tweddit</a:t>
            </a:r>
            <a:r>
              <a:rPr lang="en-US" altLang="en-US" sz="2400" dirty="0">
                <a:latin typeface="Arial" panose="020B0604020202020204" pitchFamily="34" charset="0"/>
              </a:rPr>
              <a:t> repos to.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Next </a:t>
            </a:r>
            <a:r>
              <a:rPr lang="en-US" altLang="en-US" sz="2400" dirty="0">
                <a:latin typeface="Arial" panose="020B0604020202020204" pitchFamily="34" charset="0"/>
              </a:rPr>
              <a:t>copy those into your python </a:t>
            </a:r>
            <a:r>
              <a:rPr lang="en-US" altLang="en-US" sz="2400" dirty="0" err="1">
                <a:latin typeface="Arial" panose="020B0604020202020204" pitchFamily="34" charset="0"/>
              </a:rPr>
              <a:t>miniconda</a:t>
            </a:r>
            <a:r>
              <a:rPr lang="en-US" altLang="en-US" sz="2400" dirty="0">
                <a:latin typeface="Arial" panose="020B0604020202020204" pitchFamily="34" charset="0"/>
              </a:rPr>
              <a:t>/</a:t>
            </a:r>
            <a:r>
              <a:rPr lang="en-US" altLang="en-US" sz="2400" dirty="0" err="1">
                <a:latin typeface="Arial" panose="020B0604020202020204" pitchFamily="34" charset="0"/>
              </a:rPr>
              <a:t>miniforge</a:t>
            </a:r>
            <a:r>
              <a:rPr lang="en-US" altLang="en-US" sz="2400" dirty="0">
                <a:latin typeface="Arial" panose="020B0604020202020204" pitchFamily="34" charset="0"/>
              </a:rPr>
              <a:t> env:</a:t>
            </a:r>
          </a:p>
          <a:p>
            <a:pPr>
              <a:spcBef>
                <a:spcPct val="0"/>
              </a:spcBef>
            </a:pPr>
            <a:r>
              <a:rPr lang="en-US" altLang="en-US" sz="2400" dirty="0" err="1">
                <a:latin typeface="Arial" panose="020B0604020202020204" pitchFamily="34" charset="0"/>
              </a:rPr>
              <a:t>xcopy</a:t>
            </a:r>
            <a:r>
              <a:rPr lang="en-US" altLang="en-US" sz="2400" dirty="0">
                <a:latin typeface="Arial" panose="020B0604020202020204" pitchFamily="34" charset="0"/>
              </a:rPr>
              <a:t> "%</a:t>
            </a:r>
            <a:r>
              <a:rPr lang="en-US" altLang="en-US" sz="2400" dirty="0" err="1">
                <a:latin typeface="Arial" panose="020B0604020202020204" pitchFamily="34" charset="0"/>
              </a:rPr>
              <a:t>USERPROFILE</a:t>
            </a:r>
            <a:r>
              <a:rPr lang="en-US" altLang="en-US" sz="2400" dirty="0">
                <a:latin typeface="Arial" panose="020B0604020202020204" pitchFamily="34" charset="0"/>
              </a:rPr>
              <a:t>%\</a:t>
            </a:r>
            <a:r>
              <a:rPr lang="en-US" altLang="en-US" sz="2400" dirty="0" err="1">
                <a:latin typeface="Arial" panose="020B0604020202020204" pitchFamily="34" charset="0"/>
              </a:rPr>
              <a:t>src</a:t>
            </a:r>
            <a:r>
              <a:rPr lang="en-US" altLang="en-US" sz="2400" dirty="0">
                <a:latin typeface="Arial" panose="020B0604020202020204" pitchFamily="34" charset="0"/>
              </a:rPr>
              <a:t>\cc3d-player5\cc3d\player5" "C:\miniconda3\envs\cc3d-compile\Lib\site-packages\cc3d\player5" /E /I /Y</a:t>
            </a:r>
          </a:p>
          <a:p>
            <a:pPr>
              <a:spcBef>
                <a:spcPct val="0"/>
              </a:spcBef>
            </a:pPr>
            <a:r>
              <a:rPr lang="en-US" altLang="en-US" sz="2400" dirty="0" err="1">
                <a:latin typeface="Arial" panose="020B0604020202020204" pitchFamily="34" charset="0"/>
              </a:rPr>
              <a:t>xcopy</a:t>
            </a:r>
            <a:r>
              <a:rPr lang="en-US" altLang="en-US" sz="2400" dirty="0">
                <a:latin typeface="Arial" panose="020B0604020202020204" pitchFamily="34" charset="0"/>
              </a:rPr>
              <a:t> "%</a:t>
            </a:r>
            <a:r>
              <a:rPr lang="en-US" altLang="en-US" sz="2400" dirty="0" err="1">
                <a:latin typeface="Arial" panose="020B0604020202020204" pitchFamily="34" charset="0"/>
              </a:rPr>
              <a:t>USERPROFILE</a:t>
            </a:r>
            <a:r>
              <a:rPr lang="en-US" altLang="en-US" sz="2400" dirty="0">
                <a:latin typeface="Arial" panose="020B0604020202020204" pitchFamily="34" charset="0"/>
              </a:rPr>
              <a:t>%\</a:t>
            </a:r>
            <a:r>
              <a:rPr lang="en-US" altLang="en-US" sz="2400" dirty="0" err="1">
                <a:latin typeface="Arial" panose="020B0604020202020204" pitchFamily="34" charset="0"/>
              </a:rPr>
              <a:t>src</a:t>
            </a:r>
            <a:r>
              <a:rPr lang="en-US" altLang="en-US" sz="2400" dirty="0">
                <a:latin typeface="Arial" panose="020B0604020202020204" pitchFamily="34" charset="0"/>
              </a:rPr>
              <a:t>\cc3d-twedit5\cc3d\twedit5" "C:\miniconda3\envs\cc3d-compile\Lib\site-packages\cc3d\twedit5" /E /I /Y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b="1" i="1" dirty="0">
                <a:latin typeface="Arial" panose="020B0604020202020204" pitchFamily="34" charset="0"/>
              </a:rPr>
              <a:t>You can also manually drag the folder into the env if you want.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64A77D5-4398-1E2C-643F-7F382FB385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8D354EFD-40F2-A50C-7D86-6CB938CAE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1C86EE4B-E1CB-A01D-8359-2E3ED7D47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9453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F4BE-0EA3-F6AB-DA06-5B8954CF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B856-8527-8C65-D66B-429D68A4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9.1.8 Open CC3D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7C0EE-9CE9-C34B-D77B-3496E5DA1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 sz="2400" b="1" i="1" dirty="0">
                <a:latin typeface="Arial" panose="020B0604020202020204" pitchFamily="34" charset="0"/>
              </a:rPr>
              <a:t>Start your env and run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b="1" i="1" dirty="0">
                <a:latin typeface="Arial" panose="020B0604020202020204" pitchFamily="34" charset="0"/>
              </a:rPr>
              <a:t>	python -m cc3d.player5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sz="2400" b="1" i="1" dirty="0">
              <a:latin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b="1" i="1" dirty="0">
                <a:latin typeface="Arial" panose="020B0604020202020204" pitchFamily="34" charset="0"/>
              </a:rPr>
              <a:t>It should now open up!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8E35ECEE-9853-EBCE-E565-81C72E1BB5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AE554B8F-8F65-C7F7-8D8B-099692C0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995397B7-B69A-A577-5F85-8F2AC12C3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8163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7ECC-C809-5B28-B837-913AB10F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Homework – Try it yourself!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9427-4A26-1486-D7FA-B230488FF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Follow the steps given in the previous slides and attempt to compile and open </a:t>
            </a:r>
            <a:r>
              <a:rPr lang="en-US" sz="1800" i="1" dirty="0"/>
              <a:t>CC3D</a:t>
            </a:r>
          </a:p>
          <a:p>
            <a:pPr marL="0" indent="0">
              <a:buNone/>
            </a:pPr>
            <a:endParaRPr lang="en-US" sz="1800" i="1" dirty="0"/>
          </a:p>
          <a:p>
            <a:pPr marL="0" indent="0">
              <a:buNone/>
            </a:pPr>
            <a:r>
              <a:rPr lang="en-US" sz="1800" i="1" dirty="0"/>
              <a:t>Note: if you are having any issues running mamba (permission errors) you will need to elevate the command (run in Administrator mode). Before activating the environment remember to return to normal permissions!</a:t>
            </a:r>
            <a:endParaRPr lang="en-US" sz="1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4446D89-CA02-647E-A6CE-673CEF29FC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D4C858DA-7DC8-052F-F1DA-82EA983B1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FDC2A1E8-FF51-D1CA-3C89-5A932D99B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3719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A4B42D326EED47845E91DDE972D891" ma:contentTypeVersion="7" ma:contentTypeDescription="Create a new document." ma:contentTypeScope="" ma:versionID="fb49de3f7cf354b6edb62a6156e8029d">
  <xsd:schema xmlns:xsd="http://www.w3.org/2001/XMLSchema" xmlns:xs="http://www.w3.org/2001/XMLSchema" xmlns:p="http://schemas.microsoft.com/office/2006/metadata/properties" xmlns:ns3="93d5dc8f-ad47-41c4-ba0f-ecac85b3dc47" xmlns:ns4="76fd4a74-22af-4879-baf6-225bf07c6ecb" targetNamespace="http://schemas.microsoft.com/office/2006/metadata/properties" ma:root="true" ma:fieldsID="ea5cb0f436923d773d497ffbeebdba41" ns3:_="" ns4:_="">
    <xsd:import namespace="93d5dc8f-ad47-41c4-ba0f-ecac85b3dc47"/>
    <xsd:import namespace="76fd4a74-22af-4879-baf6-225bf07c6e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5dc8f-ad47-41c4-ba0f-ecac85b3dc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fd4a74-22af-4879-baf6-225bf07c6e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5B1B83-8D24-4CFE-9827-80664D0626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d5dc8f-ad47-41c4-ba0f-ecac85b3dc47"/>
    <ds:schemaRef ds:uri="76fd4a74-22af-4879-baf6-225bf07c6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E09F8A-B9EE-48EE-AEBF-5870D29D59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1C0C05-9F09-44A0-83A0-E185A070F595}">
  <ds:schemaRefs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76fd4a74-22af-4879-baf6-225bf07c6ecb"/>
    <ds:schemaRef ds:uri="93d5dc8f-ad47-41c4-ba0f-ecac85b3dc47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36331</TotalTime>
  <Words>2170</Words>
  <Application>Microsoft Office PowerPoint</Application>
  <PresentationFormat>On-screen Show (4:3)</PresentationFormat>
  <Paragraphs>202</Paragraphs>
  <Slides>21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Lato</vt:lpstr>
      <vt:lpstr>SFMono-Regular</vt:lpstr>
      <vt:lpstr>Wingdings</vt:lpstr>
      <vt:lpstr>Default Design</vt:lpstr>
      <vt:lpstr>CompuCell3D Workshop: Module 9.1: Compiling CC3D for C++ extensions</vt:lpstr>
      <vt:lpstr>9.1.pre For those following along: set up your conda environment</vt:lpstr>
      <vt:lpstr>Module 9.1 Topics</vt:lpstr>
      <vt:lpstr>9.1.1 What do you gain by extending Compucell3D</vt:lpstr>
      <vt:lpstr>9.1.1 An example problem utilizing plug ins: Cell spreading (Albert and Schwarz 2014)</vt:lpstr>
      <vt:lpstr>9.1.1 Why does this need a plug in?</vt:lpstr>
      <vt:lpstr>9.1.1 Why does this need a plug in?</vt:lpstr>
      <vt:lpstr>9.1.2 What is needed to compile cc3d?</vt:lpstr>
      <vt:lpstr>9.1.3 Getting your own copy of CC3D</vt:lpstr>
      <vt:lpstr>9.1.3 Getting your own copy of CC3D</vt:lpstr>
      <vt:lpstr>9.1.4 Getting compilers for CC3D</vt:lpstr>
      <vt:lpstr>9.1.5 Set up your conda environment</vt:lpstr>
      <vt:lpstr>9.1.S1 Addional Mac information (may or may not be needed)</vt:lpstr>
      <vt:lpstr>9.1.6 Set up the environment and filepaths</vt:lpstr>
      <vt:lpstr>9.1.6 Cmake outcome (Windows)</vt:lpstr>
      <vt:lpstr>9.1.7 compile the solution (Windows)</vt:lpstr>
      <vt:lpstr>9.1.7 Compile the solution (Windows)</vt:lpstr>
      <vt:lpstr>9.1.7 Compile the solution</vt:lpstr>
      <vt:lpstr>9.1.8 Open CC3D</vt:lpstr>
      <vt:lpstr>9.1.8 Open CC3D</vt:lpstr>
      <vt:lpstr>Homework – Try it yourself!</vt:lpstr>
    </vt:vector>
  </TitlesOfParts>
  <Company>Indiana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P548/M548 Mathematical Biology</dc:title>
  <dc:creator>James Glazier</dc:creator>
  <cp:lastModifiedBy>Hayden Fennell</cp:lastModifiedBy>
  <cp:revision>722</cp:revision>
  <dcterms:created xsi:type="dcterms:W3CDTF">2006-01-12T00:58:50Z</dcterms:created>
  <dcterms:modified xsi:type="dcterms:W3CDTF">2026-08-06T17:15:45Z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0x0101004AA4B42D326EED47845E91DDE972D891</vt:lpwstr>
  </property>
</Properties>
</file>