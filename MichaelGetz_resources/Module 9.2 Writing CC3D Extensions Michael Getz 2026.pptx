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2986" r:id="rId5"/>
    <p:sldId id="2954" r:id="rId6"/>
    <p:sldId id="2768" r:id="rId7"/>
    <p:sldId id="2775" r:id="rId8"/>
    <p:sldId id="2951" r:id="rId9"/>
    <p:sldId id="2952" r:id="rId10"/>
    <p:sldId id="2996" r:id="rId11"/>
    <p:sldId id="2785" r:id="rId12"/>
    <p:sldId id="2963" r:id="rId13"/>
    <p:sldId id="2964" r:id="rId14"/>
    <p:sldId id="2965" r:id="rId15"/>
    <p:sldId id="2967" r:id="rId16"/>
    <p:sldId id="2992" r:id="rId17"/>
    <p:sldId id="2968" r:id="rId18"/>
    <p:sldId id="2969" r:id="rId19"/>
    <p:sldId id="2971" r:id="rId20"/>
    <p:sldId id="2953" r:id="rId21"/>
    <p:sldId id="2792" r:id="rId22"/>
    <p:sldId id="2970" r:id="rId23"/>
    <p:sldId id="2973" r:id="rId24"/>
    <p:sldId id="2972" r:id="rId25"/>
    <p:sldId id="2976" r:id="rId26"/>
    <p:sldId id="2977" r:id="rId27"/>
    <p:sldId id="2979" r:id="rId28"/>
    <p:sldId id="2980" r:id="rId29"/>
    <p:sldId id="2983" r:id="rId30"/>
    <p:sldId id="2984" r:id="rId31"/>
    <p:sldId id="2985" r:id="rId32"/>
    <p:sldId id="2975" r:id="rId33"/>
    <p:sldId id="2981" r:id="rId34"/>
    <p:sldId id="2999" r:id="rId35"/>
    <p:sldId id="2998" r:id="rId36"/>
    <p:sldId id="3000" r:id="rId37"/>
    <p:sldId id="2982" r:id="rId38"/>
    <p:sldId id="3001" r:id="rId39"/>
    <p:sldId id="3002" r:id="rId40"/>
    <p:sldId id="3003" r:id="rId41"/>
    <p:sldId id="2974" r:id="rId42"/>
    <p:sldId id="2762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673367-B7F2-31AB-F698-1565B4E3FEF1}" name="Getz, Michael" initials="MG" userId="S::getzm@iu.edu::fe5e103d-71e7-4051-94ce-9700b5277ca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lazier" initials="JAG" lastIdx="5" clrIdx="0"/>
  <p:cmAuthor id="2" name="Glazier, James Alexander" initials="GJA" lastIdx="1" clrIdx="1">
    <p:extLst>
      <p:ext uri="{19B8F6BF-5375-455C-9EA6-DF929625EA0E}">
        <p15:presenceInfo xmlns:p15="http://schemas.microsoft.com/office/powerpoint/2012/main" userId="Glazier, James Alexander" providerId="None"/>
      </p:ext>
    </p:extLst>
  </p:cmAuthor>
  <p:cmAuthor id="3" name="Aponte-Serrano, Josua Oscar" initials="ASJO" lastIdx="1" clrIdx="2">
    <p:extLst>
      <p:ext uri="{19B8F6BF-5375-455C-9EA6-DF929625EA0E}">
        <p15:presenceInfo xmlns:p15="http://schemas.microsoft.com/office/powerpoint/2012/main" userId="S::joaponte@iu.edu::43a43737-d1b2-49cd-8a88-38556cd7bb12" providerId="AD"/>
      </p:ext>
    </p:extLst>
  </p:cmAuthor>
  <p:cmAuthor id="4" name="Juliano Gianlupi" initials="JG" lastIdx="1" clrIdx="3">
    <p:extLst>
      <p:ext uri="{19B8F6BF-5375-455C-9EA6-DF929625EA0E}">
        <p15:presenceInfo xmlns:p15="http://schemas.microsoft.com/office/powerpoint/2012/main" userId="0b1284171e6cd95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00"/>
    <a:srgbClr val="3A3A3A"/>
    <a:srgbClr val="404040"/>
    <a:srgbClr val="AFAFAF"/>
    <a:srgbClr val="FF0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6" autoAdjust="0"/>
    <p:restoredTop sz="97419" autoAdjust="0"/>
  </p:normalViewPr>
  <p:slideViewPr>
    <p:cSldViewPr>
      <p:cViewPr varScale="1">
        <p:scale>
          <a:sx n="103" d="100"/>
          <a:sy n="103" d="100"/>
        </p:scale>
        <p:origin x="175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22" d="100"/>
          <a:sy n="122" d="100"/>
        </p:scale>
        <p:origin x="5004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BBDE7D1-4ACE-42B0-B632-72907CD5522E}" type="datetimeFigureOut">
              <a:rPr lang="en-US"/>
              <a:pPr>
                <a:defRPr/>
              </a:pPr>
              <a:t>08/06/26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823B376-FC5E-4AC8-89AB-21FF98D540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963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68DE9C0-FB58-DFC2-752F-2200C27B1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439C054B-FE28-0515-8DA1-F2CA2A450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Post slack link repeatedly in Chat Keep links available to repost</a:t>
            </a:r>
            <a:endParaRPr dirty="0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173B325F-FB35-73AD-8524-A1EDB839B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04011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896B31-8EE1-43B7-9E70-F0A33AFC7B5F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0013" y="763588"/>
            <a:ext cx="5030787" cy="37719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C37C3-5C3B-4276-83BC-BB85578571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3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58E17-7F77-4CF2-BA40-6A5EAD1B4F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96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D54EF-6F91-4380-9EA8-4161CA833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23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C1380-7FD7-42D9-BE65-00425DBEC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17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2D0B7-55FE-49A1-A58C-A2DF81EE7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0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BBC5B6-1404-4F5A-8751-293019FD0C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11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345D7B-FA81-4969-8DDE-6B7BE51DDC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5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DEE7E1-9BDC-4D73-87D0-18CAB285AB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2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258E2-566A-45A8-BD47-DF7C7914E4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CE6A9-EC62-4B9C-8DEF-40539660E5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3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0359C-1C9A-4DF0-AD5C-33E020AEB5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0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B20BF40-6704-4602-A816-40DBDE2CE5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hyperlink" Target="https://tinyurl.com/2025CC3DSLAC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inyurl.com/2026TeamingDoc" TargetMode="External"/><Relationship Id="rId5" Type="http://schemas.openxmlformats.org/officeDocument/2006/relationships/hyperlink" Target="https://compucell3ddevelopersmanual.readthedocs.io/en/master/index.html" TargetMode="External"/><Relationship Id="rId10" Type="http://schemas.openxmlformats.org/officeDocument/2006/relationships/image" Target="../media/image5.jp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s://www.tutorialspoint.com/cplusplus/cpp_stl_tutorial" TargetMode="External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mpucell3ddevelopersmanual.readthedocs.io/en/master/building_growth_steppable_in_main_cod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43DF4194-0480-AEB0-BB80-1FC441D20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3FA511C4-147A-3913-7829-F30026DF72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31750"/>
            <a:ext cx="88428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Calibri"/>
              <a:buNone/>
            </a:pPr>
            <a:r>
              <a:rPr lang="en-US" altLang="en-US" sz="2800" b="1" dirty="0">
                <a:solidFill>
                  <a:srgbClr val="0000CC"/>
                </a:solidFill>
              </a:rPr>
              <a:t>CompuCell3D Workshop: </a:t>
            </a:r>
            <a:r>
              <a:rPr lang="en-US" sz="2800" b="1" dirty="0">
                <a:solidFill>
                  <a:srgbClr val="0000CC"/>
                </a:solidFill>
              </a:rPr>
              <a:t>Module 9.2: C++ extensions</a:t>
            </a:r>
            <a:endParaRPr sz="4000" dirty="0">
              <a:solidFill>
                <a:srgbClr val="0000CC"/>
              </a:solidFill>
            </a:endParaRPr>
          </a:p>
        </p:txBody>
      </p: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050FEA4D-CF62-B240-5811-C493002F4A9C}"/>
              </a:ext>
            </a:extLst>
          </p:cNvPr>
          <p:cNvSpPr txBox="1"/>
          <p:nvPr/>
        </p:nvSpPr>
        <p:spPr>
          <a:xfrm>
            <a:off x="1364355" y="1228682"/>
            <a:ext cx="6434318" cy="189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0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Michael Getz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0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Dept. of Intelligent Systems Engineering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0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and Biocomplexity Institute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0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Indiana University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0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Bloomington, IN 47408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1" i="0" u="none" strike="noStrike" cap="none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50"/>
              <a:buFont typeface="Arial"/>
              <a:buNone/>
            </a:pPr>
            <a:r>
              <a:rPr lang="en-US" sz="1850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Thursday, August 7, 2025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 descr="IU seal, red on white, large">
            <a:extLst>
              <a:ext uri="{FF2B5EF4-FFF2-40B4-BE49-F238E27FC236}">
                <a16:creationId xmlns:a16="http://schemas.microsoft.com/office/drawing/2014/main" id="{5FEEC3A5-4394-B347-77F3-6975D17D08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1920" y="990383"/>
            <a:ext cx="1944688" cy="18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 descr="logo">
            <a:extLst>
              <a:ext uri="{FF2B5EF4-FFF2-40B4-BE49-F238E27FC236}">
                <a16:creationId xmlns:a16="http://schemas.microsoft.com/office/drawing/2014/main" id="{96418B69-4F13-0F05-DC85-DE98049C49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699" y="1380520"/>
            <a:ext cx="1148986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EE7E9979-E1A7-CDBD-7C30-2B35952B5990}"/>
              </a:ext>
            </a:extLst>
          </p:cNvPr>
          <p:cNvSpPr txBox="1"/>
          <p:nvPr/>
        </p:nvSpPr>
        <p:spPr>
          <a:xfrm>
            <a:off x="579912" y="3370958"/>
            <a:ext cx="7984175" cy="298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>
                <a:latin typeface="+mn-lt"/>
              </a:rPr>
              <a:t>Link to Compucell3D Developer manual: </a:t>
            </a:r>
            <a:r>
              <a:rPr lang="en-US" dirty="0">
                <a:latin typeface="+mn-lt"/>
                <a:hlinkClick r:id="rId5"/>
              </a:rPr>
              <a:t>https://compucell3ddevelopersmanual.readthedocs.io/en/master/index.html</a:t>
            </a:r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Hackathon Idea Sharing Documents: </a:t>
            </a:r>
            <a:r>
              <a:rPr lang="en-US" u="sng" dirty="0">
                <a:latin typeface="+mn-lt"/>
                <a:hlinkClick r:id="rId6"/>
              </a:rPr>
              <a:t>https://tinyurl.com/2026TeamingDoc</a:t>
            </a:r>
            <a:r>
              <a:rPr lang="en-US" dirty="0">
                <a:latin typeface="+mn-lt"/>
              </a:rPr>
              <a:t> </a:t>
            </a:r>
          </a:p>
          <a:p>
            <a:endParaRPr lang="en-US" sz="1600" dirty="0">
              <a:latin typeface="+mn-lt"/>
            </a:endParaRPr>
          </a:p>
          <a:p>
            <a:r>
              <a:rPr lang="en-US" dirty="0">
                <a:latin typeface="+mn-lt"/>
              </a:rPr>
              <a:t>Please join the workshop Slack: </a:t>
            </a:r>
            <a:r>
              <a:rPr lang="en-US" u="sng" dirty="0">
                <a:latin typeface="+mn-lt"/>
                <a:hlinkClick r:id="rId7"/>
              </a:rPr>
              <a:t>https://tinyurl.com/2026CC3DSLACK</a:t>
            </a:r>
            <a:endParaRPr lang="en-US" u="sng" dirty="0">
              <a:latin typeface="+mn-lt"/>
            </a:endParaRPr>
          </a:p>
          <a:p>
            <a:endParaRPr lang="en-US" u="sng" dirty="0">
              <a:latin typeface="+mn-lt"/>
            </a:endParaRPr>
          </a:p>
          <a:p>
            <a:r>
              <a:rPr lang="en-US" i="1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Workshop will be live-streamed, recorded and distributed on YouTube</a:t>
            </a:r>
          </a:p>
          <a:p>
            <a:endParaRPr lang="en-US" sz="14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r>
              <a:rPr lang="en-US" sz="1400" b="1" dirty="0">
                <a:solidFill>
                  <a:srgbClr val="0000FF"/>
                </a:solidFill>
              </a:rPr>
              <a:t>Funding: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b="1" dirty="0"/>
              <a:t>NIH U24 EB028887, NSF 2120200, NSF 2000281, NSF 2303695</a:t>
            </a:r>
            <a:r>
              <a:rPr lang="en-US" b="1" dirty="0"/>
              <a:t>. </a:t>
            </a:r>
            <a:r>
              <a:rPr lang="en-US" sz="1400" b="1" dirty="0"/>
              <a:t>Previous Funding: NIH R01 GM122424</a:t>
            </a:r>
            <a:fld id="{FDF9DC1B-D9CD-4A25-A805-D02460E9EA77}" type="slidenum">
              <a:rPr lang="en-US" sz="1400" b="1" smtClean="0"/>
              <a:t>1</a:t>
            </a:fld>
            <a:r>
              <a:rPr lang="en-US" sz="1400" b="1" dirty="0"/>
              <a:t>, NSF 1720625</a:t>
            </a:r>
            <a:endParaRPr lang="en-US" sz="2000" dirty="0"/>
          </a:p>
        </p:txBody>
      </p:sp>
      <p:pic>
        <p:nvPicPr>
          <p:cNvPr id="93" name="Google Shape;93;p1">
            <a:extLst>
              <a:ext uri="{FF2B5EF4-FFF2-40B4-BE49-F238E27FC236}">
                <a16:creationId xmlns:a16="http://schemas.microsoft.com/office/drawing/2014/main" id="{D06C0AB7-EE27-8033-67DA-B903C1E0BC8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45410" y="1371383"/>
            <a:ext cx="1097922" cy="11366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318EC4-1D73-DF5D-0B12-2FF5093B607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039928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dirty="0"/>
          </a:p>
        </p:txBody>
      </p:sp>
      <p:pic>
        <p:nvPicPr>
          <p:cNvPr id="3" name="Picture 17" descr="Biocomplexity Logo">
            <a:extLst>
              <a:ext uri="{FF2B5EF4-FFF2-40B4-BE49-F238E27FC236}">
                <a16:creationId xmlns:a16="http://schemas.microsoft.com/office/drawing/2014/main" id="{1EC587E3-3E63-4C91-F943-1AC1DA259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redblackblockiu">
            <a:extLst>
              <a:ext uri="{FF2B5EF4-FFF2-40B4-BE49-F238E27FC236}">
                <a16:creationId xmlns:a16="http://schemas.microsoft.com/office/drawing/2014/main" id="{BCC27744-9758-01DC-7E91-9494AB570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98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2CF2-0A4E-267E-E6C5-59F7F00B7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D759D-68B5-2084-01D0-7099FAD6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C0BF5"/>
                </a:solidFill>
              </a:rPr>
              <a:t>Module 9.2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CD3E4-A032-B8BF-F9B1-E0D53A858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00200"/>
            <a:ext cx="76200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9.2.1 – What is a </a:t>
            </a:r>
            <a:r>
              <a:rPr lang="en-US" sz="1600" b="1" dirty="0" err="1"/>
              <a:t>steppable</a:t>
            </a:r>
            <a:r>
              <a:rPr lang="en-US" sz="1600" b="1" dirty="0"/>
              <a:t> and plugin?</a:t>
            </a:r>
          </a:p>
          <a:p>
            <a:pPr marL="0" indent="0">
              <a:buNone/>
            </a:pPr>
            <a:r>
              <a:rPr lang="en-US" sz="1600" b="1" dirty="0"/>
              <a:t>9.2.2 – </a:t>
            </a:r>
            <a:r>
              <a:rPr lang="en-US" sz="1600" b="1" dirty="0" err="1"/>
              <a:t>Tweddit</a:t>
            </a:r>
            <a:r>
              <a:rPr lang="en-US" sz="1600" b="1" dirty="0"/>
              <a:t> plug in creation</a:t>
            </a:r>
          </a:p>
          <a:p>
            <a:pPr marL="0" indent="0">
              <a:buNone/>
            </a:pPr>
            <a:r>
              <a:rPr lang="en-US" sz="1600" b="1" dirty="0"/>
              <a:t>9.2.3 – </a:t>
            </a:r>
            <a:r>
              <a:rPr lang="en-US" sz="1600" b="1" dirty="0" err="1"/>
              <a:t>Tweddit</a:t>
            </a:r>
            <a:r>
              <a:rPr lang="en-US" sz="1600" b="1" dirty="0"/>
              <a:t> shortcuts and IDEs</a:t>
            </a:r>
          </a:p>
          <a:p>
            <a:pPr marL="0" indent="0">
              <a:buNone/>
            </a:pPr>
            <a:r>
              <a:rPr lang="en-US" sz="1600" b="1" dirty="0"/>
              <a:t>9.2.4 – Example </a:t>
            </a:r>
            <a:r>
              <a:rPr lang="en-US" sz="1600" b="1" dirty="0" err="1"/>
              <a:t>Steppable</a:t>
            </a:r>
            <a:r>
              <a:rPr lang="en-US" sz="1600" b="1" dirty="0"/>
              <a:t>: </a:t>
            </a:r>
            <a:r>
              <a:rPr lang="en-US" sz="1600" b="1" dirty="0" err="1"/>
              <a:t>GrowthSteppable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9.2.3 – Example Plugin: </a:t>
            </a:r>
            <a:r>
              <a:rPr lang="en-US" sz="1600" b="1" dirty="0" err="1"/>
              <a:t>SimpleEnergyPenalty</a:t>
            </a:r>
            <a:endParaRPr lang="en-US" sz="1600" b="1" dirty="0"/>
          </a:p>
        </p:txBody>
      </p:sp>
      <p:pic>
        <p:nvPicPr>
          <p:cNvPr id="4" name="Google Shape;114;p3" descr="redblackblockiu">
            <a:extLst>
              <a:ext uri="{FF2B5EF4-FFF2-40B4-BE49-F238E27FC236}">
                <a16:creationId xmlns:a16="http://schemas.microsoft.com/office/drawing/2014/main" id="{9295EE7F-EDBF-9162-C9FD-53F7F4B04E6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79369"/>
            <a:ext cx="363141" cy="47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3;p3" descr="Biocomplexity Logo">
            <a:extLst>
              <a:ext uri="{FF2B5EF4-FFF2-40B4-BE49-F238E27FC236}">
                <a16:creationId xmlns:a16="http://schemas.microsoft.com/office/drawing/2014/main" id="{CBC56187-9342-6855-3279-F9449CF82B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98706" y="6412706"/>
            <a:ext cx="445294" cy="44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5;p3">
            <a:extLst>
              <a:ext uri="{FF2B5EF4-FFF2-40B4-BE49-F238E27FC236}">
                <a16:creationId xmlns:a16="http://schemas.microsoft.com/office/drawing/2014/main" id="{BD1A9DAD-3881-9B74-9AAA-220EBDEA5E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0325" y="0"/>
            <a:ext cx="593675" cy="6178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865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ED5C-78A9-133B-A861-5ABD4E232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9.2.1</a:t>
            </a:r>
            <a:r>
              <a:rPr lang="en-US" sz="44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Steppable</a:t>
            </a:r>
            <a:r>
              <a:rPr lang="en-US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plug ins evaluate at different times</a:t>
            </a:r>
            <a:endParaRPr lang="en-US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127F45DE-CE38-38A6-97F9-791FD5A4711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32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1192056D-F43E-A5C5-1B2C-34C1229C3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53A7908D-DF89-F4AC-922F-C597498EC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56E4F1B-0D55-15A7-3622-1263B8107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94" y="1766501"/>
            <a:ext cx="8763000" cy="28469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Steppables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endParaRPr lang="en-US" altLang="en-US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	are modules that the Simulator calls after each MCS (e.g. PDE solvers). These are the same as python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steppables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, but are evaluated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first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Plug 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	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Lattice Monitors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- modules that are called each time CC3D functions (e.g.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metropolisFast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) make a change to the cell lattice. </a:t>
            </a:r>
          </a:p>
          <a:p>
            <a:pPr lvl="0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	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Energy Function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- this module is called every pixel copy attempt because Potts algorithm calls this module to compute its contribution to the overall change of energy due to proposed pixel copy (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</a:rPr>
              <a:t>∆H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</a:rPr>
              <a:t> or </a:t>
            </a:r>
            <a:r>
              <a:rPr lang="en-US" altLang="en-US" i="1" dirty="0">
                <a:solidFill>
                  <a:srgbClr val="404040"/>
                </a:solidFill>
                <a:latin typeface="Aptos" panose="020B0004020202020204" pitchFamily="34" charset="0"/>
              </a:rPr>
              <a:t>∆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</a:rPr>
              <a:t>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ptos" panose="020B0004020202020204" pitchFamily="34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C16D9-5F55-8466-DDB5-5D3B4FF52177}"/>
              </a:ext>
            </a:extLst>
          </p:cNvPr>
          <p:cNvSpPr txBox="1"/>
          <p:nvPr/>
        </p:nvSpPr>
        <p:spPr>
          <a:xfrm>
            <a:off x="2660129" y="5296495"/>
            <a:ext cx="64764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</a:t>
            </a:r>
            <a:r>
              <a:rPr lang="en-US" altLang="en-US" i="1" dirty="0" err="1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metropolisFast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  <a:p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en-US" altLang="en-US" i="1" dirty="0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i="1" dirty="0" err="1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metropolisFast</a:t>
            </a:r>
            <a:r>
              <a:rPr lang="en-US" altLang="en-US" i="1" dirty="0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 one of the iterators that CC3D uses</a:t>
            </a:r>
          </a:p>
          <a:p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to calculate and attempt the pixel flip attempts</a:t>
            </a:r>
            <a:endParaRPr lang="en-US" dirty="0">
              <a:solidFill>
                <a:srgbClr val="40404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2BB28F-558B-D5B2-8662-C63E574AD84D}"/>
                  </a:ext>
                </a:extLst>
              </p:cNvPr>
              <p:cNvSpPr txBox="1"/>
              <p:nvPr/>
            </p:nvSpPr>
            <p:spPr>
              <a:xfrm>
                <a:off x="1981200" y="6172200"/>
                <a:ext cx="4582114" cy="509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−∆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2BB28F-558B-D5B2-8662-C63E574AD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6172200"/>
                <a:ext cx="4582114" cy="5093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47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7ECC-C809-5B28-B837-913AB10F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9.2.2 </a:t>
            </a:r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up a plug in from </a:t>
            </a:r>
            <a:r>
              <a:rPr lang="en-US" sz="36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tweddit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9427-4A26-1486-D7FA-B230488FF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97269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Editing chemotaxis in XML:</a:t>
            </a:r>
          </a:p>
          <a:p>
            <a:pPr marL="0" indent="0">
              <a:buNone/>
            </a:pPr>
            <a:r>
              <a:rPr lang="en-US" sz="1800" dirty="0"/>
              <a:t>CC3DML</a:t>
            </a:r>
            <a:r>
              <a:rPr lang="en-US" sz="1800" dirty="0">
                <a:sym typeface="Wingdings" panose="05000000000000000000" pitchFamily="2" charset="2"/>
              </a:rPr>
              <a:t> CC3D C++ Generate New Module…</a:t>
            </a:r>
            <a:endParaRPr lang="en-US" sz="1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74446D89-CA02-647E-A6CE-673CEF29FC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D4C858DA-7DC8-052F-F1DA-82EA983B1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FDC2A1E8-FF51-D1CA-3C89-5A932D99B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54E2FB4-24E0-BA22-EC99-2FCC7B160967}"/>
              </a:ext>
            </a:extLst>
          </p:cNvPr>
          <p:cNvSpPr txBox="1">
            <a:spLocks/>
          </p:cNvSpPr>
          <p:nvPr/>
        </p:nvSpPr>
        <p:spPr bwMode="auto">
          <a:xfrm>
            <a:off x="4714112" y="1417638"/>
            <a:ext cx="47244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 dirty="0"/>
              <a:t>You will now see this window: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D0C66D-36AC-C594-C7DD-12C7BD6FE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094" y="2667000"/>
            <a:ext cx="3917696" cy="243840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032B777-990E-AE11-83E5-048BC243F489}"/>
              </a:ext>
            </a:extLst>
          </p:cNvPr>
          <p:cNvSpPr txBox="1">
            <a:spLocks/>
          </p:cNvSpPr>
          <p:nvPr/>
        </p:nvSpPr>
        <p:spPr bwMode="auto">
          <a:xfrm>
            <a:off x="4424745" y="4853781"/>
            <a:ext cx="47244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 dirty="0"/>
              <a:t>We will now discuss some of these options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76F11D-D95E-9495-CA78-76DAC86C8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735506"/>
            <a:ext cx="4118004" cy="312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3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B6CF-D5A6-5A46-B23A-77F3E11E4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D848C0-52E9-AE09-4387-625385011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654" y="1828800"/>
            <a:ext cx="3562533" cy="27052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8DF5E5-43EA-BA7D-5E06-67D85664F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9.2.2 </a:t>
            </a:r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up a module from </a:t>
            </a:r>
            <a:r>
              <a:rPr lang="en-US" sz="36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tweddit</a:t>
            </a:r>
            <a:endParaRPr lang="en-US" sz="36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71CE3CC6-3B18-A19F-7E30-F41CDF687F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B9C844D1-88E5-05C4-EAA0-5117D46B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CC215B6A-A235-40FF-EE71-57A9CD52A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455125-DFF1-E67C-3079-F02B444E6A6F}"/>
              </a:ext>
            </a:extLst>
          </p:cNvPr>
          <p:cNvSpPr txBox="1">
            <a:spLocks/>
          </p:cNvSpPr>
          <p:nvPr/>
        </p:nvSpPr>
        <p:spPr bwMode="auto">
          <a:xfrm>
            <a:off x="4087489" y="1367352"/>
            <a:ext cx="1905000" cy="3779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 dirty="0"/>
              <a:t>Name of Module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E43996C-78E4-FC2B-5D8E-67D56C1CEE28}"/>
              </a:ext>
            </a:extLst>
          </p:cNvPr>
          <p:cNvSpPr txBox="1">
            <a:spLocks/>
          </p:cNvSpPr>
          <p:nvPr/>
        </p:nvSpPr>
        <p:spPr bwMode="auto">
          <a:xfrm>
            <a:off x="1704723" y="4449779"/>
            <a:ext cx="2514599" cy="435054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 dirty="0"/>
              <a:t>Plugin specific options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D62B92-E89F-45E8-2B22-DE3344F3EB06}"/>
              </a:ext>
            </a:extLst>
          </p:cNvPr>
          <p:cNvSpPr txBox="1">
            <a:spLocks/>
          </p:cNvSpPr>
          <p:nvPr/>
        </p:nvSpPr>
        <p:spPr bwMode="auto">
          <a:xfrm>
            <a:off x="1028701" y="1438156"/>
            <a:ext cx="2743199" cy="10047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 dirty="0"/>
              <a:t>Directory of Module</a:t>
            </a:r>
          </a:p>
          <a:p>
            <a:pPr marL="0" indent="0">
              <a:buFontTx/>
              <a:buNone/>
            </a:pPr>
            <a:r>
              <a:rPr lang="en-US" sz="1800" kern="0" dirty="0"/>
              <a:t>This is important!</a:t>
            </a:r>
          </a:p>
          <a:p>
            <a:pPr marL="0" indent="0">
              <a:buFontTx/>
              <a:buNone/>
            </a:pPr>
            <a:r>
              <a:rPr lang="en-US" sz="1800" kern="0" dirty="0"/>
              <a:t>We will discuss this later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5987CE-A552-0FE1-5E06-4216E693CA72}"/>
              </a:ext>
            </a:extLst>
          </p:cNvPr>
          <p:cNvSpPr txBox="1">
            <a:spLocks/>
          </p:cNvSpPr>
          <p:nvPr/>
        </p:nvSpPr>
        <p:spPr bwMode="auto">
          <a:xfrm>
            <a:off x="174653" y="2662983"/>
            <a:ext cx="4321147" cy="625644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 dirty="0"/>
              <a:t>Keep main code layout unless you have set up Developer Zone (we have NOT)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D806F57-1B90-E86A-A2FF-39A822F63221}"/>
              </a:ext>
            </a:extLst>
          </p:cNvPr>
          <p:cNvSpPr txBox="1">
            <a:spLocks/>
          </p:cNvSpPr>
          <p:nvPr/>
        </p:nvSpPr>
        <p:spPr bwMode="auto">
          <a:xfrm>
            <a:off x="586672" y="3439822"/>
            <a:ext cx="3500817" cy="39036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 dirty="0"/>
              <a:t>Is this a plug in or a </a:t>
            </a:r>
            <a:r>
              <a:rPr lang="en-US" sz="1800" kern="0" dirty="0" err="1"/>
              <a:t>steppable</a:t>
            </a:r>
            <a:r>
              <a:rPr lang="en-US" sz="1800" kern="0" dirty="0"/>
              <a:t>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2E965F-9031-6322-8AC6-35E2BADFED10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039989" y="1745341"/>
            <a:ext cx="903611" cy="442022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6CCCA91-9DCD-D963-741B-C6182D3CF3E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771900" y="1940521"/>
            <a:ext cx="2171700" cy="639206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381123-B313-E095-F1E9-E7FB43C9E414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495800" y="2975805"/>
            <a:ext cx="533400" cy="5918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1F2B60-F026-9193-BEE3-7C3DFE978E41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087489" y="3569374"/>
            <a:ext cx="865511" cy="65628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B46A37-3EA0-7B24-E021-B851B782AE4D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219322" y="4103404"/>
            <a:ext cx="762000" cy="563902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469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A1DE-956E-5611-07EA-99192FA92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EC78F-C9FD-AA27-7820-D7DDEBD1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9.2.2 </a:t>
            </a:r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to target</a:t>
            </a:r>
            <a:endParaRPr lang="en-US" sz="36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624401BD-00CB-EBE2-3AC3-5B2B1BC12D9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2B8F152D-4032-E72F-2620-3AB881F0F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CE04C18D-B385-4CB1-9A32-8265BA7A9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90D0D20-61CB-7EFA-7330-1698A5C54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10" y="1600201"/>
            <a:ext cx="4059180" cy="19812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For </a:t>
            </a:r>
            <a:r>
              <a:rPr lang="en-US" sz="1800" b="1" i="1" dirty="0" err="1"/>
              <a:t>Steppables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…\CompuCell3D\CompuCell3D\core\CompuCell3D\</a:t>
            </a:r>
            <a:r>
              <a:rPr lang="en-US" sz="1800" dirty="0" err="1"/>
              <a:t>steppables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For </a:t>
            </a:r>
            <a:r>
              <a:rPr lang="en-US" sz="1800" b="1" i="1" dirty="0"/>
              <a:t>Plugins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…\CompuCell3D\CompuCell3D\core\CompuCell3D\plugins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8478DE-8E75-1F48-DF83-C7D726385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905000"/>
            <a:ext cx="3841867" cy="291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48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EE33-13EF-E408-F1B0-98DDDB3E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D96B7-F3C8-4ED4-0AF4-EE1158766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9.2.2 </a:t>
            </a:r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us make a plug in</a:t>
            </a:r>
            <a:endParaRPr lang="en-US" sz="36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FC6794FD-48DA-C446-83EA-5D97050E9C2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959E23BB-79B8-44B6-82B3-F3A33CD85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93B7757A-28A7-2E60-6B78-AC0805C0C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7F0B0B-AED2-FC27-238C-FD4478B60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10" y="1600201"/>
            <a:ext cx="7706490" cy="2590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Name</a:t>
            </a:r>
          </a:p>
          <a:p>
            <a:pPr marL="0" indent="0">
              <a:buNone/>
            </a:pPr>
            <a:r>
              <a:rPr lang="en-US" sz="1800" dirty="0" err="1"/>
              <a:t>AdhesiveSat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target</a:t>
            </a:r>
          </a:p>
          <a:p>
            <a:pPr marL="0" indent="0">
              <a:buNone/>
            </a:pPr>
            <a:r>
              <a:rPr lang="en-US" sz="1800" dirty="0"/>
              <a:t>…\CompuCell3D\CompuCell3D\core\CompuCell3D\plugins</a:t>
            </a:r>
          </a:p>
          <a:p>
            <a:pPr marL="0" indent="0">
              <a:buNone/>
            </a:pPr>
            <a:r>
              <a:rPr lang="en-US" sz="1800" dirty="0"/>
              <a:t>Select Plugin</a:t>
            </a:r>
          </a:p>
          <a:p>
            <a:pPr marL="0" indent="0">
              <a:buNone/>
            </a:pPr>
            <a:r>
              <a:rPr lang="en-US" sz="1800" dirty="0"/>
              <a:t>Keep Python Wrap checked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8D4AD9-4548-3005-15C6-C0FC6ABA9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214" y="3657600"/>
            <a:ext cx="4177186" cy="318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8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0651924-D029-FD52-0043-899C24F237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66"/>
          <a:stretch>
            <a:fillRect/>
          </a:stretch>
        </p:blipFill>
        <p:spPr>
          <a:xfrm>
            <a:off x="474733" y="4117241"/>
            <a:ext cx="8534400" cy="8432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5C44D1-A448-CD9B-A2AD-C71926AA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00CC"/>
                </a:solidFill>
              </a:rPr>
              <a:t>9.2.2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is created when running</a:t>
            </a:r>
            <a:endParaRPr lang="en-US" sz="32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615CBF8A-01A6-657C-B55C-AC0B803B35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ED5A4C73-7710-424C-6F7A-48803D846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AA370E94-60F6-A72D-844F-5324EBDF7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C01AE1-B1D2-83FD-422C-C5284266EEC7}"/>
              </a:ext>
            </a:extLst>
          </p:cNvPr>
          <p:cNvSpPr txBox="1"/>
          <p:nvPr/>
        </p:nvSpPr>
        <p:spPr>
          <a:xfrm>
            <a:off x="4720" y="2510869"/>
            <a:ext cx="51732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creates 10 files that will now open in </a:t>
            </a:r>
            <a:r>
              <a:rPr lang="en-US" dirty="0" err="1"/>
              <a:t>tweddit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C96DE-5665-6B09-FDB9-424D3EC0A558}"/>
              </a:ext>
            </a:extLst>
          </p:cNvPr>
          <p:cNvSpPr txBox="1"/>
          <p:nvPr/>
        </p:nvSpPr>
        <p:spPr>
          <a:xfrm>
            <a:off x="95927" y="3459162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define how the xml is referenced with the Proxy file and provide a brief description: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F4EDE4-7CBD-50F1-93C2-AEACC46DF888}"/>
              </a:ext>
            </a:extLst>
          </p:cNvPr>
          <p:cNvSpPr/>
          <p:nvPr/>
        </p:nvSpPr>
        <p:spPr>
          <a:xfrm>
            <a:off x="990600" y="4255223"/>
            <a:ext cx="1752600" cy="28366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443C3-7757-F5F0-BED4-E88AAFC8A9A1}"/>
              </a:ext>
            </a:extLst>
          </p:cNvPr>
          <p:cNvSpPr txBox="1"/>
          <p:nvPr/>
        </p:nvSpPr>
        <p:spPr>
          <a:xfrm>
            <a:off x="95927" y="4678816"/>
            <a:ext cx="777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 will keep the name as is.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691909-207E-1F07-AB98-786AE968E9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0432"/>
          <a:stretch>
            <a:fillRect/>
          </a:stretch>
        </p:blipFill>
        <p:spPr>
          <a:xfrm>
            <a:off x="-50" y="1118046"/>
            <a:ext cx="9144000" cy="129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94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4ECB-1DC5-784A-D48C-4BF15932B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6D692-14E3-5B5E-F11E-72775A47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00CC"/>
                </a:solidFill>
              </a:rPr>
              <a:t>9.2.2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is created when running</a:t>
            </a:r>
            <a:endParaRPr lang="en-US" sz="32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6FCB96F9-C943-A650-CCA6-49B1B89CD80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C8B3B56A-060B-FF32-611E-7C93085BC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6B44E3AC-7FAF-0587-5F28-857225FAD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97735E-FF25-691F-3853-70158F8DD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1631120"/>
            <a:ext cx="4800600" cy="3180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5CDC12-00C7-D03A-D72B-D9889EA8DFB6}"/>
              </a:ext>
            </a:extLst>
          </p:cNvPr>
          <p:cNvSpPr txBox="1"/>
          <p:nvPr/>
        </p:nvSpPr>
        <p:spPr>
          <a:xfrm>
            <a:off x="0" y="1066800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Cmake</a:t>
            </a:r>
            <a:r>
              <a:rPr lang="en-US" dirty="0"/>
              <a:t> Lists is automatically updated to include your new </a:t>
            </a:r>
            <a:r>
              <a:rPr lang="en-US" dirty="0" err="1"/>
              <a:t>steppable</a:t>
            </a:r>
            <a:endParaRPr lang="en-US" dirty="0"/>
          </a:p>
          <a:p>
            <a:r>
              <a:rPr lang="en-US" dirty="0"/>
              <a:t>There will be a few created, we can close these for now.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B3AF7-BF5E-1735-A7D3-A01C7F99F0FC}"/>
              </a:ext>
            </a:extLst>
          </p:cNvPr>
          <p:cNvSpPr txBox="1"/>
          <p:nvPr/>
        </p:nvSpPr>
        <p:spPr>
          <a:xfrm>
            <a:off x="0" y="487680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important files to focus on first are the </a:t>
            </a:r>
            <a:r>
              <a:rPr lang="en-US" b="1" dirty="0"/>
              <a:t>.</a:t>
            </a:r>
            <a:r>
              <a:rPr lang="en-US" b="1" dirty="0" err="1"/>
              <a:t>cpp</a:t>
            </a:r>
            <a:r>
              <a:rPr lang="en-US" dirty="0"/>
              <a:t> and the </a:t>
            </a:r>
            <a:r>
              <a:rPr lang="en-US" b="1" dirty="0"/>
              <a:t>.h</a:t>
            </a:r>
            <a:r>
              <a:rPr lang="en-US" dirty="0"/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15707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39A1B-F1DB-7C79-E7F4-7C67B795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C83A-E318-FAF4-0B09-91F61107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152400"/>
            <a:ext cx="82296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0000CC"/>
                </a:solidFill>
              </a:rPr>
              <a:t>9.2.2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is created when running: header file</a:t>
            </a:r>
            <a:endParaRPr lang="en-US" sz="32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71A90211-4DA1-EF23-C57B-6D50A3CE9E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8C7C5F8B-4709-9F84-ABC8-7CD45BF0A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1A1C385C-6984-4110-E761-8933B8CA4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A0ACF5-655D-98E0-1910-A1E375D9A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53" y="1270450"/>
            <a:ext cx="7176294" cy="489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09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D20128-FADA-EB25-BF44-80989C0BB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4B1C-E3F9-8886-DF68-D75E66BD9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152400"/>
            <a:ext cx="82296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0000CC"/>
                </a:solidFill>
              </a:rPr>
              <a:t>9.2.2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is created when running: </a:t>
            </a:r>
            <a:r>
              <a:rPr lang="en-US" sz="32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cpp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</a:t>
            </a:r>
            <a:endParaRPr lang="en-US" sz="32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5487319F-1864-3F47-6BCF-92EB992E3BD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9484D4D7-E304-1A29-7E97-1292C46F1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69330713-39E8-A0C1-B7B4-EE76C1FCD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24FD00-6F3A-15EE-83CB-616F7CCF3CC5}"/>
              </a:ext>
            </a:extLst>
          </p:cNvPr>
          <p:cNvSpPr txBox="1"/>
          <p:nvPr/>
        </p:nvSpPr>
        <p:spPr>
          <a:xfrm>
            <a:off x="381000" y="1284116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define what these functions do. The </a:t>
            </a:r>
            <a:r>
              <a:rPr lang="en-US" dirty="0" err="1"/>
              <a:t>cpp</a:t>
            </a:r>
            <a:r>
              <a:rPr lang="en-US" dirty="0"/>
              <a:t> file comes pre-populated with some sample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0E68F4-7BE0-01FB-2349-1C885CEB8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82673"/>
            <a:ext cx="8305800" cy="23948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28ECF5-6F83-93D0-A024-1C5F7B53B052}"/>
              </a:ext>
            </a:extLst>
          </p:cNvPr>
          <p:cNvSpPr txBox="1"/>
          <p:nvPr/>
        </p:nvSpPr>
        <p:spPr>
          <a:xfrm>
            <a:off x="381000" y="4301974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The </a:t>
            </a:r>
            <a:r>
              <a:rPr lang="en-US" altLang="en-US" b="1" dirty="0">
                <a:solidFill>
                  <a:srgbClr val="404040"/>
                </a:solidFill>
                <a:latin typeface="Lato" panose="020F0502020204030203" pitchFamily="34" charset="0"/>
              </a:rPr>
              <a:t>for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 loop iterates over the inventory of cells using </a:t>
            </a:r>
            <a:r>
              <a:rPr lang="en-US" altLang="en-US" b="1" dirty="0" err="1">
                <a:solidFill>
                  <a:srgbClr val="404040"/>
                </a:solidFill>
                <a:latin typeface="Lato" panose="020F0502020204030203" pitchFamily="34" charset="0"/>
              </a:rPr>
              <a:t>cellInventoryPtr</a:t>
            </a:r>
            <a:r>
              <a:rPr lang="en-US" altLang="en-US" b="1" dirty="0">
                <a:solidFill>
                  <a:srgbClr val="404040"/>
                </a:solidFill>
                <a:latin typeface="Lato" panose="020F0502020204030203" pitchFamily="34" charset="0"/>
              </a:rPr>
              <a:t> 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(a pointer to </a:t>
            </a:r>
            <a:r>
              <a:rPr lang="en-US" altLang="en-US" b="1" dirty="0" err="1">
                <a:solidFill>
                  <a:srgbClr val="404040"/>
                </a:solidFill>
                <a:latin typeface="Lato" panose="020F0502020204030203" pitchFamily="34" charset="0"/>
              </a:rPr>
              <a:t>CellInventory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)</a:t>
            </a:r>
            <a:r>
              <a:rPr lang="en-US" altLang="en-US" b="1" dirty="0">
                <a:solidFill>
                  <a:srgbClr val="404040"/>
                </a:solidFill>
                <a:latin typeface="Lato" panose="020F0502020204030203" pitchFamily="34" charset="0"/>
              </a:rPr>
              <a:t> 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to print cell id and cell volume.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248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E43A82-C227-C417-5913-5D86B2563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1197-3946-2756-E875-0D9513DF8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152400"/>
            <a:ext cx="82296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0000CC"/>
                </a:solidFill>
              </a:rPr>
              <a:t>9.2.2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is created when running: </a:t>
            </a:r>
            <a:r>
              <a:rPr lang="en-US" sz="32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cpp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</a:t>
            </a:r>
            <a:endParaRPr lang="en-US" sz="32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012ED86D-CCE2-686A-7F3A-8412D5C3AE5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93920C04-C152-9704-AC0F-14232D023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48F20FEA-2DE8-3A5B-91EF-294A59108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6EF1B5-F118-DCBA-E55F-AE22269B0D68}"/>
              </a:ext>
            </a:extLst>
          </p:cNvPr>
          <p:cNvSpPr txBox="1"/>
          <p:nvPr/>
        </p:nvSpPr>
        <p:spPr>
          <a:xfrm>
            <a:off x="457200" y="3416236"/>
            <a:ext cx="805676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The class for this object (</a:t>
            </a:r>
            <a:r>
              <a:rPr lang="en-US" altLang="en-US" b="1" dirty="0" err="1">
                <a:solidFill>
                  <a:srgbClr val="E74C3C"/>
                </a:solidFill>
                <a:latin typeface="SFMono-Regular"/>
              </a:rPr>
              <a:t>CellInventory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) is defined in </a:t>
            </a:r>
            <a:r>
              <a:rPr lang="en-US" altLang="en-US" b="1" dirty="0">
                <a:solidFill>
                  <a:srgbClr val="E74C3C"/>
                </a:solidFill>
                <a:latin typeface="SFMono-Regular"/>
              </a:rPr>
              <a:t>Potts3D/</a:t>
            </a:r>
            <a:r>
              <a:rPr lang="en-US" altLang="en-US" b="1" dirty="0" err="1">
                <a:solidFill>
                  <a:srgbClr val="E74C3C"/>
                </a:solidFill>
                <a:latin typeface="SFMono-Regular"/>
              </a:rPr>
              <a:t>CellInventory.h</a:t>
            </a:r>
            <a:r>
              <a:rPr lang="en-US" altLang="en-US" b="1" dirty="0">
                <a:solidFill>
                  <a:srgbClr val="404040"/>
                </a:solidFill>
                <a:latin typeface="Lato" panose="020F0502020204030203" pitchFamily="34" charset="0"/>
              </a:rPr>
              <a:t> 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and implementation is in </a:t>
            </a:r>
            <a:r>
              <a:rPr lang="en-US" altLang="en-US" b="1" dirty="0">
                <a:solidFill>
                  <a:srgbClr val="E74C3C"/>
                </a:solidFill>
                <a:latin typeface="SFMono-Regular"/>
              </a:rPr>
              <a:t>Potts3D/CellInventory.cpp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. Internally, we are using </a:t>
            </a:r>
            <a:r>
              <a:rPr lang="en-US" altLang="en-US" dirty="0" err="1">
                <a:solidFill>
                  <a:srgbClr val="404040"/>
                </a:solidFill>
                <a:latin typeface="Lato" panose="020F0502020204030203" pitchFamily="34" charset="0"/>
              </a:rPr>
              <a:t>STL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(Standard Template Library - C++) maps to keep track of cells. The statement </a:t>
            </a:r>
            <a:r>
              <a:rPr lang="en-US" altLang="en-US" b="1" dirty="0" err="1">
                <a:solidFill>
                  <a:srgbClr val="E74C3C"/>
                </a:solidFill>
                <a:latin typeface="SFMono-Regular"/>
              </a:rPr>
              <a:t>cellInventoryPtr</a:t>
            </a:r>
            <a:r>
              <a:rPr lang="en-US" altLang="en-US" b="1" dirty="0">
                <a:solidFill>
                  <a:srgbClr val="E74C3C"/>
                </a:solidFill>
                <a:latin typeface="SFMono-Regular"/>
              </a:rPr>
              <a:t>-&gt;</a:t>
            </a:r>
            <a:r>
              <a:rPr lang="en-US" altLang="en-US" b="1" dirty="0" err="1">
                <a:solidFill>
                  <a:srgbClr val="E74C3C"/>
                </a:solidFill>
                <a:latin typeface="SFMono-Regular"/>
              </a:rPr>
              <a:t>cellInventoryBegin</a:t>
            </a:r>
            <a:r>
              <a:rPr lang="en-US" altLang="en-US" b="1" dirty="0">
                <a:solidFill>
                  <a:srgbClr val="E74C3C"/>
                </a:solidFill>
                <a:latin typeface="SFMono-Regular"/>
              </a:rPr>
              <a:t>()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 returns an iterator to cell inventory. If you look closely at the implementation files the container we are using as a cell inventory is </a:t>
            </a:r>
            <a:r>
              <a:rPr lang="en-US" altLang="en-US" b="1" dirty="0">
                <a:solidFill>
                  <a:srgbClr val="E74C3C"/>
                </a:solidFill>
                <a:latin typeface="SFMono-Regular"/>
              </a:rPr>
              <a:t>std::map&lt;</a:t>
            </a:r>
            <a:r>
              <a:rPr lang="en-US" altLang="en-US" b="1" dirty="0" err="1">
                <a:solidFill>
                  <a:srgbClr val="E74C3C"/>
                </a:solidFill>
                <a:latin typeface="SFMono-Regular"/>
              </a:rPr>
              <a:t>CellIdentifier,CellG</a:t>
            </a:r>
            <a:r>
              <a:rPr lang="en-US" altLang="en-US" b="1" dirty="0">
                <a:solidFill>
                  <a:srgbClr val="E74C3C"/>
                </a:solidFill>
                <a:latin typeface="SFMono-Regular"/>
              </a:rPr>
              <a:t> *&gt;</a:t>
            </a:r>
            <a:r>
              <a:rPr lang="en-US" altLang="en-US" b="1" dirty="0">
                <a:solidFill>
                  <a:srgbClr val="404040"/>
                </a:solidFill>
                <a:latin typeface="Lato" panose="020F0502020204030203" pitchFamily="34" charset="0"/>
              </a:rPr>
              <a:t> 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and </a:t>
            </a:r>
            <a:r>
              <a:rPr lang="en-US" altLang="en-US" dirty="0" err="1">
                <a:solidFill>
                  <a:srgbClr val="404040"/>
                </a:solidFill>
                <a:latin typeface="Lato" panose="020F0502020204030203" pitchFamily="34" charset="0"/>
              </a:rPr>
              <a:t>CellIdentifier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 contains cell id and cluster id to uniquely identify cells. Iteration over cell inventory is simply iteration over </a:t>
            </a:r>
            <a:r>
              <a:rPr lang="en-US" altLang="en-US" dirty="0" err="1">
                <a:solidFill>
                  <a:srgbClr val="404040"/>
                </a:solidFill>
                <a:latin typeface="Lato" panose="020F0502020204030203" pitchFamily="34" charset="0"/>
              </a:rPr>
              <a:t>STL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 map. If you are not familiar with concept of iterators and containers of </a:t>
            </a:r>
            <a:r>
              <a:rPr lang="en-US" altLang="en-US" dirty="0" err="1">
                <a:solidFill>
                  <a:srgbClr val="404040"/>
                </a:solidFill>
                <a:latin typeface="Lato" panose="020F0502020204030203" pitchFamily="34" charset="0"/>
              </a:rPr>
              <a:t>STL</a:t>
            </a:r>
            <a:r>
              <a:rPr lang="en-US" altLang="en-US" dirty="0">
                <a:solidFill>
                  <a:srgbClr val="404040"/>
                </a:solidFill>
                <a:latin typeface="Lato" panose="020F0502020204030203" pitchFamily="34" charset="0"/>
              </a:rPr>
              <a:t> we recommend that you look up basic C++ tutorials for example: </a:t>
            </a:r>
            <a:r>
              <a:rPr lang="en-US" altLang="en-US" dirty="0">
                <a:latin typeface="SFMono-Regular"/>
                <a:hlinkClick r:id="rId5"/>
              </a:rPr>
              <a:t>https://www.tutorialspoint.com/cplusplus/cpp_stl_tutorial</a:t>
            </a:r>
            <a:endParaRPr lang="en-US" altLang="en-US" dirty="0">
              <a:latin typeface="Lato" panose="020F0502020204030203" pitchFamily="34" charset="0"/>
            </a:endParaRPr>
          </a:p>
          <a:p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614BC7-9BFD-7F6D-CA98-FEFD020D4B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587" y="1419842"/>
            <a:ext cx="6835775" cy="197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3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95F788-1094-5162-2E58-E3DF35713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4F58-D88B-B26D-F1B8-13473E447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00CC"/>
                </a:solidFill>
              </a:rPr>
              <a:t>9.2.2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is created when running</a:t>
            </a:r>
            <a:endParaRPr lang="en-US" sz="32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29A70A79-5539-E06F-F9AF-C137EFD39E2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C92966D4-2C20-42B8-49D8-384A47B83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44642463-0764-3738-9D30-26F02D476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28904D-957F-4989-811F-08CED79477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4832"/>
          <a:stretch>
            <a:fillRect/>
          </a:stretch>
        </p:blipFill>
        <p:spPr>
          <a:xfrm>
            <a:off x="4720" y="1066800"/>
            <a:ext cx="9144000" cy="14440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866176-9C00-58C7-0C88-868A44950CB5}"/>
              </a:ext>
            </a:extLst>
          </p:cNvPr>
          <p:cNvSpPr txBox="1"/>
          <p:nvPr/>
        </p:nvSpPr>
        <p:spPr>
          <a:xfrm>
            <a:off x="4720" y="2510869"/>
            <a:ext cx="92768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creates 10 files that will now open in </a:t>
            </a:r>
            <a:r>
              <a:rPr lang="en-US" dirty="0" err="1"/>
              <a:t>tweddit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you see linker errors when attempting to build</a:t>
            </a:r>
          </a:p>
          <a:p>
            <a:r>
              <a:rPr lang="en-US" dirty="0"/>
              <a:t>You may need manually add</a:t>
            </a:r>
          </a:p>
          <a:p>
            <a:r>
              <a:rPr lang="en-US" dirty="0"/>
              <a:t>cc3d::</a:t>
            </a:r>
            <a:r>
              <a:rPr lang="en-US" dirty="0" err="1"/>
              <a:t>GrowthStep</a:t>
            </a:r>
            <a:r>
              <a:rPr lang="en-US" dirty="0"/>
              <a:t> to …\CompuCell3D\core\pyinterface\CompuCellPython\CMakeLists.txt</a:t>
            </a:r>
          </a:p>
        </p:txBody>
      </p:sp>
    </p:spTree>
    <p:extLst>
      <p:ext uri="{BB962C8B-B14F-4D97-AF65-F5344CB8AC3E}">
        <p14:creationId xmlns:p14="http://schemas.microsoft.com/office/powerpoint/2010/main" val="3249558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679C7-33C1-7CA0-6C66-7B4E08E5A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8298-5B20-500A-EDE1-F0E0A65F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152400"/>
            <a:ext cx="82296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0000CC"/>
                </a:solidFill>
              </a:rPr>
              <a:t>9.2.3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Tweddit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shortcuts</a:t>
            </a:r>
            <a:endParaRPr lang="en-US" sz="32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40789FFA-6211-64B8-8586-3B934B99F4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33C3F933-1E6C-5C3F-75EB-D639D401E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647FCEBE-C629-CD09-3B39-138351926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F2708B-D922-5BC8-1AE0-3648FC26E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228599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There are a few helpful shortcuts in the </a:t>
            </a:r>
            <a:r>
              <a:rPr lang="en-US" sz="2400" dirty="0" err="1"/>
              <a:t>Tweddit</a:t>
            </a:r>
            <a:r>
              <a:rPr lang="en-US" sz="2400" dirty="0"/>
              <a:t> menu</a:t>
            </a:r>
          </a:p>
          <a:p>
            <a:pPr marL="0" indent="0">
              <a:buNone/>
            </a:pPr>
            <a:r>
              <a:rPr lang="en-US" sz="2400" dirty="0"/>
              <a:t>	For instance, if you want to visit Pixel Neighbors: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C388F0-A8A1-49AA-6065-D40545CC33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91"/>
          <a:stretch>
            <a:fillRect/>
          </a:stretch>
        </p:blipFill>
        <p:spPr>
          <a:xfrm>
            <a:off x="76200" y="2209800"/>
            <a:ext cx="3751942" cy="2285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9A53A4-A935-584C-DED8-141FD3E62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4407924"/>
            <a:ext cx="6172200" cy="245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0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6F81-A0CD-334B-45B5-59D591B8B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ACE0-4AEF-2242-249D-15D67606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152400"/>
            <a:ext cx="82296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0000CC"/>
                </a:solidFill>
              </a:rPr>
              <a:t>9.2.3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an IDE</a:t>
            </a:r>
            <a:endParaRPr lang="en-US" sz="32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663B7EC1-13DF-9A31-E276-D189A60A82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A0A5AC1F-05CD-3E51-E887-4B005FFB1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8E1FC69E-BD07-6B8A-CC2A-CD3382C14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51DB1C-B982-83EA-1AE9-0E79983D5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347813"/>
            <a:ext cx="8229600" cy="228599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With an IDE you can peek definitions if you need to find the reference or are curious about the object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9F3477-7FC3-8AD7-4098-D1C346BEB5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69" y="2209800"/>
            <a:ext cx="870806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56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DD74-7B0A-2ECD-A3F2-40252CE76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5F95-79BE-E755-5ED6-FFBC8A24A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75" y="152400"/>
            <a:ext cx="82296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0000CC"/>
                </a:solidFill>
              </a:rPr>
              <a:t>9.2.3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Further comments</a:t>
            </a:r>
            <a:endParaRPr lang="en-US" sz="32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0F6D5855-8243-3013-7E1F-CFDD1B76A57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94009B0F-3B00-B2C7-1D55-0E3B9ADC9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FBCDA359-4F5F-40ED-A25E-6451FDC35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A5960D-DD55-006F-CA79-CBFD4A58B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347813"/>
            <a:ext cx="8229600" cy="451958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When working on your own </a:t>
            </a:r>
            <a:r>
              <a:rPr lang="en-US" sz="2400" dirty="0" err="1"/>
              <a:t>steppable</a:t>
            </a:r>
            <a:r>
              <a:rPr lang="en-US" sz="2400" dirty="0"/>
              <a:t> or plugin it is perfectly okay to hard code values at first before worrying about encoding 3D / swig / xml / mesh types</a:t>
            </a:r>
          </a:p>
        </p:txBody>
      </p:sp>
    </p:spTree>
    <p:extLst>
      <p:ext uri="{BB962C8B-B14F-4D97-AF65-F5344CB8AC3E}">
        <p14:creationId xmlns:p14="http://schemas.microsoft.com/office/powerpoint/2010/main" val="3547719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7B78C6-388F-4FBD-A859-44924C9E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FD1F-5726-6462-6857-6EBA3FB2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9.2.2 </a:t>
            </a:r>
            <a:r>
              <a:rPr lang="en-US" sz="36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us make a </a:t>
            </a:r>
            <a:r>
              <a:rPr lang="en-US" sz="36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steppable</a:t>
            </a:r>
            <a:endParaRPr lang="en-US" sz="36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8B971511-D339-5FB7-C549-E793183531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CDC32B3B-65EA-44A8-4F2B-F2C84208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10BFE120-D536-CEA7-DBF8-C90ECDDEC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0BA9F33-6056-0E53-8E76-5EB0F5DB6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10" y="1600201"/>
            <a:ext cx="7706490" cy="2590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Name</a:t>
            </a:r>
          </a:p>
          <a:p>
            <a:pPr marL="0" indent="0">
              <a:buNone/>
            </a:pPr>
            <a:r>
              <a:rPr lang="en-US" sz="1800" dirty="0" err="1"/>
              <a:t>GrowthSteppable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target</a:t>
            </a:r>
          </a:p>
          <a:p>
            <a:pPr marL="0" indent="0">
              <a:buNone/>
            </a:pPr>
            <a:r>
              <a:rPr lang="en-US" sz="1800" dirty="0"/>
              <a:t>…\CompuCell3D\CompuCell3D\core\CompuCell3D\</a:t>
            </a:r>
            <a:r>
              <a:rPr lang="en-US" sz="1800" dirty="0" err="1"/>
              <a:t>steppables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Steppable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Keep Python Wrap checked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C8D69-268D-6A07-AC6C-EFA8868F4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330" y="3687874"/>
            <a:ext cx="5597250" cy="303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86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44D1-A448-CD9B-A2AD-C71926AA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</a:t>
            </a:r>
            <a:r>
              <a:rPr lang="en-US" sz="2800" b="1" dirty="0" err="1">
                <a:solidFill>
                  <a:srgbClr val="0000CC"/>
                </a:solidFill>
                <a:cs typeface="Arial" panose="020B0604020202020204" pitchFamily="34" charset="0"/>
              </a:rPr>
              <a:t>GrowthSteppable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615CBF8A-01A6-657C-B55C-AC0B803B35B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ED5A4C73-7710-424C-6F7A-48803D846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AA370E94-60F6-A72D-844F-5324EBDF7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88406E-2365-9232-259B-3C72DF2F30C3}"/>
              </a:ext>
            </a:extLst>
          </p:cNvPr>
          <p:cNvSpPr txBox="1"/>
          <p:nvPr/>
        </p:nvSpPr>
        <p:spPr>
          <a:xfrm>
            <a:off x="0" y="1371600"/>
            <a:ext cx="83279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 us now try to use this information to build a </a:t>
            </a:r>
            <a:r>
              <a:rPr lang="en-US" dirty="0" err="1"/>
              <a:t>GrowthSteppable</a:t>
            </a:r>
            <a:r>
              <a:rPr lang="en-US" dirty="0"/>
              <a:t> in C++</a:t>
            </a:r>
          </a:p>
          <a:p>
            <a:r>
              <a:rPr lang="en-US" dirty="0"/>
              <a:t>First, we modify the start function to iterate over the cell inventories and assign a</a:t>
            </a:r>
          </a:p>
          <a:p>
            <a:r>
              <a:rPr lang="en-US" dirty="0"/>
              <a:t>target volume and lambda volume: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FBBFD6-B0F0-44C4-6BEF-CF3D1FE92243}"/>
              </a:ext>
            </a:extLst>
          </p:cNvPr>
          <p:cNvSpPr txBox="1"/>
          <p:nvPr/>
        </p:nvSpPr>
        <p:spPr>
          <a:xfrm>
            <a:off x="1037947" y="2439412"/>
            <a:ext cx="69585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void </a:t>
            </a:r>
            <a:r>
              <a:rPr lang="en-US" sz="1800" b="1" dirty="0" err="1"/>
              <a:t>GrowthSteppable</a:t>
            </a:r>
            <a:r>
              <a:rPr lang="en-US" sz="1800" b="1" dirty="0"/>
              <a:t>::start()</a:t>
            </a:r>
            <a:r>
              <a:rPr lang="en-US" sz="1800" dirty="0"/>
              <a:t>{</a:t>
            </a:r>
          </a:p>
          <a:p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CellInventory</a:t>
            </a:r>
            <a:r>
              <a:rPr lang="en-US" sz="1800" dirty="0"/>
              <a:t>::</a:t>
            </a:r>
            <a:r>
              <a:rPr lang="en-US" sz="1800" dirty="0" err="1"/>
              <a:t>cellInventoryIterator</a:t>
            </a:r>
            <a:r>
              <a:rPr lang="en-US" sz="1800" dirty="0"/>
              <a:t> </a:t>
            </a:r>
            <a:r>
              <a:rPr lang="en-US" sz="1800" dirty="0" err="1"/>
              <a:t>cInvItr</a:t>
            </a:r>
            <a:r>
              <a:rPr lang="en-US" sz="1800" dirty="0"/>
              <a:t>;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CellG</a:t>
            </a:r>
            <a:r>
              <a:rPr lang="en-US" sz="1800" dirty="0"/>
              <a:t> * cell = 0;</a:t>
            </a:r>
          </a:p>
          <a:p>
            <a:endParaRPr lang="en-US" sz="1800" dirty="0"/>
          </a:p>
          <a:p>
            <a:r>
              <a:rPr lang="en-US" sz="1800" dirty="0"/>
              <a:t>    for (</a:t>
            </a:r>
            <a:r>
              <a:rPr lang="en-US" sz="1800" dirty="0" err="1"/>
              <a:t>cInvItr</a:t>
            </a:r>
            <a:r>
              <a:rPr lang="en-US" sz="1800" dirty="0"/>
              <a:t> = </a:t>
            </a:r>
            <a:r>
              <a:rPr lang="en-US" sz="1800" dirty="0" err="1"/>
              <a:t>cellInventoryPtr</a:t>
            </a:r>
            <a:r>
              <a:rPr lang="en-US" sz="1800" dirty="0"/>
              <a:t>-&gt;</a:t>
            </a:r>
            <a:r>
              <a:rPr lang="en-US" sz="1800" dirty="0" err="1"/>
              <a:t>cellInventoryBegin</a:t>
            </a:r>
            <a:r>
              <a:rPr lang="en-US" sz="1800" dirty="0"/>
              <a:t>(); </a:t>
            </a:r>
            <a:r>
              <a:rPr lang="en-US" sz="1800" dirty="0" err="1"/>
              <a:t>cInvItr</a:t>
            </a:r>
            <a:r>
              <a:rPr lang="en-US" sz="1800" dirty="0"/>
              <a:t> != </a:t>
            </a:r>
            <a:r>
              <a:rPr lang="en-US" sz="1800" dirty="0" err="1"/>
              <a:t>cellInventoryPtr</a:t>
            </a:r>
            <a:r>
              <a:rPr lang="en-US" sz="1800" dirty="0"/>
              <a:t>-&gt;</a:t>
            </a:r>
            <a:r>
              <a:rPr lang="en-US" sz="1800" dirty="0" err="1"/>
              <a:t>cellInventoryEnd</a:t>
            </a:r>
            <a:r>
              <a:rPr lang="en-US" sz="1800" dirty="0"/>
              <a:t>(); ++</a:t>
            </a:r>
            <a:r>
              <a:rPr lang="en-US" sz="1800" dirty="0" err="1"/>
              <a:t>cInvItr</a:t>
            </a:r>
            <a:r>
              <a:rPr lang="en-US" sz="1800" dirty="0"/>
              <a:t>)</a:t>
            </a:r>
          </a:p>
          <a:p>
            <a:r>
              <a:rPr lang="en-US" sz="1800" dirty="0"/>
              <a:t>    {</a:t>
            </a:r>
          </a:p>
          <a:p>
            <a:endParaRPr lang="en-US" sz="1800" dirty="0"/>
          </a:p>
          <a:p>
            <a:r>
              <a:rPr lang="en-US" sz="1800" dirty="0"/>
              <a:t>        cell = </a:t>
            </a:r>
            <a:r>
              <a:rPr lang="en-US" sz="1800" dirty="0" err="1"/>
              <a:t>cellInventoryPtr</a:t>
            </a:r>
            <a:r>
              <a:rPr lang="en-US" sz="1800" dirty="0"/>
              <a:t>-&gt;</a:t>
            </a:r>
            <a:r>
              <a:rPr lang="en-US" sz="1800" dirty="0" err="1"/>
              <a:t>getCell</a:t>
            </a:r>
            <a:r>
              <a:rPr lang="en-US" sz="1800" dirty="0"/>
              <a:t>(</a:t>
            </a:r>
            <a:r>
              <a:rPr lang="en-US" sz="1800" dirty="0" err="1"/>
              <a:t>cInvItr</a:t>
            </a:r>
            <a:r>
              <a:rPr lang="en-US" sz="1800" dirty="0"/>
              <a:t>);</a:t>
            </a:r>
          </a:p>
          <a:p>
            <a:r>
              <a:rPr lang="en-US" sz="1800" dirty="0"/>
              <a:t>        cell-&gt;</a:t>
            </a:r>
            <a:r>
              <a:rPr lang="en-US" sz="1800" dirty="0" err="1"/>
              <a:t>targetVolume</a:t>
            </a:r>
            <a:r>
              <a:rPr lang="en-US" sz="1800" dirty="0"/>
              <a:t> = 25.0;</a:t>
            </a:r>
          </a:p>
          <a:p>
            <a:r>
              <a:rPr lang="en-US" sz="1800" dirty="0"/>
              <a:t>        cell-&gt;</a:t>
            </a:r>
            <a:r>
              <a:rPr lang="en-US" sz="1800" dirty="0" err="1"/>
              <a:t>lambdaVolume</a:t>
            </a:r>
            <a:r>
              <a:rPr lang="en-US" sz="1800" dirty="0"/>
              <a:t> = 2.0;</a:t>
            </a:r>
          </a:p>
          <a:p>
            <a:r>
              <a:rPr lang="en-US" sz="1800" dirty="0"/>
              <a:t>    }</a:t>
            </a:r>
          </a:p>
          <a:p>
            <a:endParaRPr lang="en-US" sz="1800" dirty="0"/>
          </a:p>
          <a:p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4475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3B6F00-C51B-CFB0-FB69-D8D99640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1037-7CE9-4173-1F9E-67174D62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</a:t>
            </a:r>
            <a:r>
              <a:rPr lang="en-US" sz="2800" b="1" dirty="0" err="1">
                <a:solidFill>
                  <a:srgbClr val="0000CC"/>
                </a:solidFill>
                <a:cs typeface="Arial" panose="020B0604020202020204" pitchFamily="34" charset="0"/>
              </a:rPr>
              <a:t>GrowthSteppable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3549CEE3-51CE-2684-8A98-1891080AD8A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482FA59F-2FFE-9B29-B40C-077D80B01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5B9188FD-7BA1-0F33-85BA-C1323D3D9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E33A9C-286F-FBF5-FB7C-D75E00B6BE11}"/>
              </a:ext>
            </a:extLst>
          </p:cNvPr>
          <p:cNvSpPr txBox="1"/>
          <p:nvPr/>
        </p:nvSpPr>
        <p:spPr>
          <a:xfrm>
            <a:off x="152400" y="1232972"/>
            <a:ext cx="8926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then modify the step function to modify the target volume of the cells at every </a:t>
            </a:r>
            <a:r>
              <a:rPr lang="en-US" dirty="0" err="1"/>
              <a:t>mcs</a:t>
            </a:r>
            <a:endParaRPr lang="en-US" dirty="0"/>
          </a:p>
          <a:p>
            <a:r>
              <a:rPr lang="en-US" dirty="0"/>
              <a:t>at rate </a:t>
            </a:r>
            <a:r>
              <a:rPr lang="en-US" dirty="0" err="1"/>
              <a:t>growthRate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28D4A-97BA-12F0-E7B6-0DC9128FB013}"/>
              </a:ext>
            </a:extLst>
          </p:cNvPr>
          <p:cNvSpPr txBox="1"/>
          <p:nvPr/>
        </p:nvSpPr>
        <p:spPr>
          <a:xfrm>
            <a:off x="476452" y="1864991"/>
            <a:ext cx="922020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b="1" dirty="0"/>
              <a:t>void </a:t>
            </a:r>
            <a:r>
              <a:rPr lang="en-US" sz="1400" b="1" dirty="0" err="1"/>
              <a:t>GrowthSteppable</a:t>
            </a:r>
            <a:r>
              <a:rPr lang="en-US" sz="1400" dirty="0"/>
              <a:t>::step(const unsigned int </a:t>
            </a:r>
            <a:r>
              <a:rPr lang="en-US" sz="1400" dirty="0" err="1"/>
              <a:t>currentStep</a:t>
            </a:r>
            <a:r>
              <a:rPr lang="en-US" sz="1400" dirty="0"/>
              <a:t>){</a:t>
            </a:r>
          </a:p>
          <a:p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CellInventory</a:t>
            </a:r>
            <a:r>
              <a:rPr lang="en-US" sz="1400" dirty="0"/>
              <a:t>::</a:t>
            </a:r>
            <a:r>
              <a:rPr lang="en-US" sz="1400" dirty="0" err="1"/>
              <a:t>cellInventoryIterator</a:t>
            </a:r>
            <a:r>
              <a:rPr lang="en-US" sz="1400" dirty="0"/>
              <a:t> </a:t>
            </a:r>
            <a:r>
              <a:rPr lang="en-US" sz="1400" dirty="0" err="1"/>
              <a:t>cInvItr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CellG</a:t>
            </a:r>
            <a:r>
              <a:rPr lang="en-US" sz="1400" dirty="0"/>
              <a:t> * cell=0;</a:t>
            </a:r>
          </a:p>
          <a:p>
            <a:endParaRPr lang="en-US" sz="1400" dirty="0"/>
          </a:p>
          <a:p>
            <a:r>
              <a:rPr lang="en-US" sz="1400" dirty="0"/>
              <a:t>    float </a:t>
            </a:r>
            <a:r>
              <a:rPr lang="en-US" sz="1400" dirty="0" err="1"/>
              <a:t>growthRate</a:t>
            </a:r>
            <a:r>
              <a:rPr lang="en-US" sz="1400" dirty="0"/>
              <a:t> = 1.0;</a:t>
            </a:r>
          </a:p>
          <a:p>
            <a:endParaRPr lang="en-US" sz="1400" dirty="0"/>
          </a:p>
          <a:p>
            <a:r>
              <a:rPr lang="en-US" sz="1400" dirty="0"/>
              <a:t>    for(</a:t>
            </a:r>
            <a:r>
              <a:rPr lang="en-US" sz="1400" dirty="0" err="1"/>
              <a:t>cInvItr</a:t>
            </a:r>
            <a:r>
              <a:rPr lang="en-US" sz="1400" dirty="0"/>
              <a:t>=</a:t>
            </a:r>
            <a:r>
              <a:rPr lang="en-US" sz="1400" dirty="0" err="1"/>
              <a:t>cellInventoryPtr</a:t>
            </a:r>
            <a:r>
              <a:rPr lang="en-US" sz="1400" dirty="0"/>
              <a:t>-&gt;</a:t>
            </a:r>
            <a:r>
              <a:rPr lang="en-US" sz="1400" dirty="0" err="1"/>
              <a:t>cellInventoryBegin</a:t>
            </a:r>
            <a:r>
              <a:rPr lang="en-US" sz="1400" dirty="0"/>
              <a:t>() ; </a:t>
            </a:r>
            <a:r>
              <a:rPr lang="en-US" sz="1400" dirty="0" err="1"/>
              <a:t>cInvItr</a:t>
            </a:r>
            <a:r>
              <a:rPr lang="en-US" sz="1400" dirty="0"/>
              <a:t> !=</a:t>
            </a:r>
            <a:r>
              <a:rPr lang="en-US" sz="1400" dirty="0" err="1"/>
              <a:t>cellInventoryPtr</a:t>
            </a:r>
            <a:r>
              <a:rPr lang="en-US" sz="1400" dirty="0"/>
              <a:t>-&gt;</a:t>
            </a:r>
            <a:r>
              <a:rPr lang="en-US" sz="1400" dirty="0" err="1"/>
              <a:t>cellInventoryEnd</a:t>
            </a:r>
            <a:r>
              <a:rPr lang="en-US" sz="1400" dirty="0"/>
              <a:t>() ;++</a:t>
            </a:r>
            <a:r>
              <a:rPr lang="en-US" sz="1400" dirty="0" err="1"/>
              <a:t>cInvItr</a:t>
            </a:r>
            <a:r>
              <a:rPr lang="en-US" sz="1400" dirty="0"/>
              <a:t> )</a:t>
            </a:r>
          </a:p>
          <a:p>
            <a:endParaRPr lang="en-US" sz="1400" dirty="0"/>
          </a:p>
          <a:p>
            <a:r>
              <a:rPr lang="en-US" sz="1400" dirty="0"/>
              <a:t>    {</a:t>
            </a:r>
          </a:p>
          <a:p>
            <a:endParaRPr lang="en-US" sz="1400" dirty="0"/>
          </a:p>
          <a:p>
            <a:r>
              <a:rPr lang="en-US" sz="1400" dirty="0"/>
              <a:t>        cell = </a:t>
            </a:r>
            <a:r>
              <a:rPr lang="en-US" sz="1400" dirty="0" err="1"/>
              <a:t>cellInventoryPtr</a:t>
            </a:r>
            <a:r>
              <a:rPr lang="en-US" sz="1400" dirty="0"/>
              <a:t>-&gt;</a:t>
            </a:r>
            <a:r>
              <a:rPr lang="en-US" sz="1400" dirty="0" err="1"/>
              <a:t>getCell</a:t>
            </a:r>
            <a:r>
              <a:rPr lang="en-US" sz="1400" dirty="0"/>
              <a:t>(</a:t>
            </a:r>
            <a:r>
              <a:rPr lang="en-US" sz="1400" dirty="0" err="1"/>
              <a:t>cInvItr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cell-&gt;</a:t>
            </a:r>
            <a:r>
              <a:rPr lang="en-US" sz="1400" dirty="0" err="1"/>
              <a:t>targetVolume</a:t>
            </a:r>
            <a:r>
              <a:rPr lang="en-US" sz="1400" dirty="0"/>
              <a:t> += </a:t>
            </a:r>
            <a:r>
              <a:rPr lang="en-US" sz="1400" dirty="0" err="1"/>
              <a:t>growthRate</a:t>
            </a:r>
            <a:r>
              <a:rPr lang="en-US" sz="1400" dirty="0"/>
              <a:t> ;</a:t>
            </a:r>
          </a:p>
          <a:p>
            <a:endParaRPr lang="en-US" sz="1400" dirty="0"/>
          </a:p>
          <a:p>
            <a:r>
              <a:rPr lang="en-US" sz="1400" dirty="0"/>
              <a:t>    }</a:t>
            </a:r>
          </a:p>
          <a:p>
            <a:endParaRPr lang="en-US" sz="1400" dirty="0"/>
          </a:p>
          <a:p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9904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5DD295-2F60-A1DE-20DE-E008970D6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94C6-3D15-64B0-CD03-2E1506FE3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</a:t>
            </a:r>
            <a:r>
              <a:rPr lang="en-US" sz="2800" b="1" dirty="0" err="1">
                <a:solidFill>
                  <a:srgbClr val="0000CC"/>
                </a:solidFill>
                <a:cs typeface="Arial" panose="020B0604020202020204" pitchFamily="34" charset="0"/>
              </a:rPr>
              <a:t>GrowthSteppable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: Install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68EAF91D-05C6-6567-0A7E-95F6ED4C1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582F07A6-8208-0FE5-07B1-242E28806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D7440870-9C28-CAD6-DC1E-3CA5A4181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E05E16-7489-1663-0C3D-0B497E3B4DAC}"/>
              </a:ext>
            </a:extLst>
          </p:cNvPr>
          <p:cNvSpPr txBox="1"/>
          <p:nvPr/>
        </p:nvSpPr>
        <p:spPr>
          <a:xfrm>
            <a:off x="152400" y="1232972"/>
            <a:ext cx="5993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All_Build</a:t>
            </a:r>
            <a:r>
              <a:rPr lang="en-US" dirty="0"/>
              <a:t> and INSTALL</a:t>
            </a:r>
          </a:p>
          <a:p>
            <a:r>
              <a:rPr lang="en-US" dirty="0"/>
              <a:t>It is important to CLOSE cc3d when installing in windows</a:t>
            </a:r>
          </a:p>
        </p:txBody>
      </p:sp>
    </p:spTree>
    <p:extLst>
      <p:ext uri="{BB962C8B-B14F-4D97-AF65-F5344CB8AC3E}">
        <p14:creationId xmlns:p14="http://schemas.microsoft.com/office/powerpoint/2010/main" val="300607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9EBB37-073A-41F1-3723-DB14086D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60D0-E674-1817-D5FD-12E8B96DC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</a:t>
            </a:r>
            <a:r>
              <a:rPr lang="en-US" sz="2800" b="1" dirty="0" err="1">
                <a:solidFill>
                  <a:srgbClr val="0000CC"/>
                </a:solidFill>
                <a:cs typeface="Arial" panose="020B0604020202020204" pitchFamily="34" charset="0"/>
              </a:rPr>
              <a:t>GrowthSteppable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: Run it!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C95F8F65-B0C0-30B0-0221-44EE0F69CF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7EAB3DB1-F175-4B42-65CF-281AD7288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6ADFDC60-4192-A192-0757-793FCA7B1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FB1D93-CBAF-A46B-3A01-FBFB284815E2}"/>
              </a:ext>
            </a:extLst>
          </p:cNvPr>
          <p:cNvSpPr txBox="1"/>
          <p:nvPr/>
        </p:nvSpPr>
        <p:spPr>
          <a:xfrm>
            <a:off x="152400" y="1232972"/>
            <a:ext cx="74302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 us load a simple model</a:t>
            </a:r>
          </a:p>
          <a:p>
            <a:r>
              <a:rPr lang="en-US" dirty="0"/>
              <a:t>A single cell type around the center of the domain </a:t>
            </a:r>
          </a:p>
          <a:p>
            <a:r>
              <a:rPr lang="en-US" dirty="0"/>
              <a:t>(we will give two cell types for reasons that will become apparent soon)</a:t>
            </a:r>
          </a:p>
          <a:p>
            <a:r>
              <a:rPr lang="en-US" dirty="0"/>
              <a:t>Load </a:t>
            </a:r>
            <a:r>
              <a:rPr lang="en-US" dirty="0" err="1"/>
              <a:t>GrowthSteppable</a:t>
            </a:r>
            <a:r>
              <a:rPr lang="en-US" dirty="0"/>
              <a:t>, run</a:t>
            </a:r>
          </a:p>
        </p:txBody>
      </p:sp>
    </p:spTree>
    <p:extLst>
      <p:ext uri="{BB962C8B-B14F-4D97-AF65-F5344CB8AC3E}">
        <p14:creationId xmlns:p14="http://schemas.microsoft.com/office/powerpoint/2010/main" val="4148631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DC0A25-F92D-9240-1FBF-DD37AA973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7539-4B5D-267D-D860-F03D9ECEF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</a:t>
            </a:r>
            <a:r>
              <a:rPr lang="en-US" sz="2800" b="1" dirty="0" err="1">
                <a:solidFill>
                  <a:srgbClr val="0000CC"/>
                </a:solidFill>
                <a:cs typeface="Arial" panose="020B0604020202020204" pitchFamily="34" charset="0"/>
              </a:rPr>
              <a:t>GrowthSteppable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: Extending the </a:t>
            </a:r>
            <a:r>
              <a:rPr lang="en-US" sz="2800" b="1" dirty="0" err="1">
                <a:solidFill>
                  <a:srgbClr val="0000CC"/>
                </a:solidFill>
                <a:cs typeface="Arial" panose="020B0604020202020204" pitchFamily="34" charset="0"/>
              </a:rPr>
              <a:t>Steppable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304DB01E-9A08-2FDE-2019-067C3D04138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4DBECAA6-7A10-C96C-B43D-5FCBCA63B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21CAC061-437C-16E7-94B4-32DBFBCB0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3AC530-1AC6-8A11-06EC-14679C9783D9}"/>
              </a:ext>
            </a:extLst>
          </p:cNvPr>
          <p:cNvSpPr txBox="1"/>
          <p:nvPr/>
        </p:nvSpPr>
        <p:spPr>
          <a:xfrm>
            <a:off x="484187" y="1371600"/>
            <a:ext cx="80660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</a:rPr>
              <a:t>Now we will write a code that increases target volume of cells but only for the first 100 MCS and only if cell type is equal to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</a:rPr>
              <a:t>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SFMono-Regular"/>
              </a:rPr>
              <a:t>1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8016E6-990D-926C-EB21-BDEA3B94BE74}"/>
              </a:ext>
            </a:extLst>
          </p:cNvPr>
          <p:cNvSpPr txBox="1"/>
          <p:nvPr/>
        </p:nvSpPr>
        <p:spPr>
          <a:xfrm>
            <a:off x="838200" y="2529180"/>
            <a:ext cx="1761032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 void </a:t>
            </a:r>
            <a:r>
              <a:rPr lang="en-US" sz="1200" dirty="0" err="1"/>
              <a:t>GrowthSteppable</a:t>
            </a:r>
            <a:r>
              <a:rPr lang="en-US" sz="1200" dirty="0"/>
              <a:t>::step(const unsigned int </a:t>
            </a:r>
            <a:r>
              <a:rPr lang="en-US" sz="1200" dirty="0" err="1"/>
              <a:t>currentStep</a:t>
            </a:r>
            <a:r>
              <a:rPr lang="en-US" sz="1200" dirty="0"/>
              <a:t>){</a:t>
            </a:r>
          </a:p>
          <a:p>
            <a:endParaRPr lang="en-US" sz="1200" dirty="0"/>
          </a:p>
          <a:p>
            <a:r>
              <a:rPr lang="en-US" sz="1200" dirty="0"/>
              <a:t>    if (</a:t>
            </a:r>
            <a:r>
              <a:rPr lang="en-US" sz="1200" dirty="0" err="1"/>
              <a:t>currentStep</a:t>
            </a:r>
            <a:r>
              <a:rPr lang="en-US" sz="1200" dirty="0"/>
              <a:t> &gt; 100)</a:t>
            </a:r>
          </a:p>
          <a:p>
            <a:r>
              <a:rPr lang="en-US" sz="1200" dirty="0"/>
              <a:t>        return;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CellInventory</a:t>
            </a:r>
            <a:r>
              <a:rPr lang="en-US" sz="1200" dirty="0"/>
              <a:t>::</a:t>
            </a:r>
            <a:r>
              <a:rPr lang="en-US" sz="1200" dirty="0" err="1"/>
              <a:t>cellInventoryIterator</a:t>
            </a:r>
            <a:r>
              <a:rPr lang="en-US" sz="1200" dirty="0"/>
              <a:t> </a:t>
            </a:r>
            <a:r>
              <a:rPr lang="en-US" sz="1200" dirty="0" err="1"/>
              <a:t>cInvItr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CellG</a:t>
            </a:r>
            <a:r>
              <a:rPr lang="en-US" sz="1200" dirty="0"/>
              <a:t> * cell=0;</a:t>
            </a:r>
          </a:p>
          <a:p>
            <a:endParaRPr lang="en-US" sz="1200" dirty="0"/>
          </a:p>
          <a:p>
            <a:r>
              <a:rPr lang="en-US" sz="1200" dirty="0"/>
              <a:t>    float </a:t>
            </a:r>
            <a:r>
              <a:rPr lang="en-US" sz="1200" dirty="0" err="1"/>
              <a:t>growthRate</a:t>
            </a:r>
            <a:r>
              <a:rPr lang="en-US" sz="1200" dirty="0"/>
              <a:t> = 1.0;</a:t>
            </a:r>
          </a:p>
          <a:p>
            <a:endParaRPr lang="en-US" sz="1200" dirty="0"/>
          </a:p>
          <a:p>
            <a:r>
              <a:rPr lang="en-US" sz="1200" dirty="0"/>
              <a:t>    for(</a:t>
            </a:r>
            <a:r>
              <a:rPr lang="en-US" sz="1200" dirty="0" err="1"/>
              <a:t>cInvItr</a:t>
            </a:r>
            <a:r>
              <a:rPr lang="en-US" sz="1200" dirty="0"/>
              <a:t>=</a:t>
            </a:r>
            <a:r>
              <a:rPr lang="en-US" sz="1200" dirty="0" err="1"/>
              <a:t>cellInventoryPtr</a:t>
            </a:r>
            <a:r>
              <a:rPr lang="en-US" sz="1200" dirty="0"/>
              <a:t>-&gt;</a:t>
            </a:r>
            <a:r>
              <a:rPr lang="en-US" sz="1200" dirty="0" err="1"/>
              <a:t>cellInventoryBegin</a:t>
            </a:r>
            <a:r>
              <a:rPr lang="en-US" sz="1200" dirty="0"/>
              <a:t>() ; </a:t>
            </a:r>
            <a:r>
              <a:rPr lang="en-US" sz="1200" dirty="0" err="1"/>
              <a:t>cInvItr</a:t>
            </a:r>
            <a:r>
              <a:rPr lang="en-US" sz="1200" dirty="0"/>
              <a:t> !=</a:t>
            </a:r>
            <a:r>
              <a:rPr lang="en-US" sz="1200" dirty="0" err="1"/>
              <a:t>cellInventoryPtr</a:t>
            </a:r>
            <a:r>
              <a:rPr lang="en-US" sz="1200" dirty="0"/>
              <a:t>-&gt;</a:t>
            </a:r>
            <a:r>
              <a:rPr lang="en-US" sz="1200" dirty="0" err="1"/>
              <a:t>cellInventoryEnd</a:t>
            </a:r>
            <a:r>
              <a:rPr lang="en-US" sz="1200" dirty="0"/>
              <a:t>() ;++</a:t>
            </a:r>
            <a:r>
              <a:rPr lang="en-US" sz="1200" dirty="0" err="1"/>
              <a:t>cInvItr</a:t>
            </a:r>
            <a:r>
              <a:rPr lang="en-US" sz="1200" dirty="0"/>
              <a:t> )</a:t>
            </a:r>
          </a:p>
          <a:p>
            <a:endParaRPr lang="en-US" sz="1200" dirty="0"/>
          </a:p>
          <a:p>
            <a:r>
              <a:rPr lang="en-US" sz="1200" dirty="0"/>
              <a:t>    {</a:t>
            </a:r>
          </a:p>
          <a:p>
            <a:endParaRPr lang="en-US" sz="1200" dirty="0"/>
          </a:p>
          <a:p>
            <a:r>
              <a:rPr lang="en-US" sz="1200" dirty="0"/>
              <a:t>        cell = </a:t>
            </a:r>
            <a:r>
              <a:rPr lang="en-US" sz="1200" dirty="0" err="1"/>
              <a:t>cellInventoryPtr</a:t>
            </a:r>
            <a:r>
              <a:rPr lang="en-US" sz="1200" dirty="0"/>
              <a:t>-&gt;</a:t>
            </a:r>
            <a:r>
              <a:rPr lang="en-US" sz="1200" dirty="0" err="1"/>
              <a:t>getCell</a:t>
            </a:r>
            <a:r>
              <a:rPr lang="en-US" sz="1200" dirty="0"/>
              <a:t>(</a:t>
            </a:r>
            <a:r>
              <a:rPr lang="en-US" sz="1200" dirty="0" err="1"/>
              <a:t>cInvItr</a:t>
            </a:r>
            <a:r>
              <a:rPr lang="en-US" sz="1200" dirty="0"/>
              <a:t>);</a:t>
            </a:r>
          </a:p>
          <a:p>
            <a:r>
              <a:rPr lang="en-US" sz="1200" dirty="0"/>
              <a:t>        if (cell-&gt;type == 1){</a:t>
            </a:r>
          </a:p>
          <a:p>
            <a:r>
              <a:rPr lang="en-US" sz="1200" dirty="0"/>
              <a:t>            cell-&gt;</a:t>
            </a:r>
            <a:r>
              <a:rPr lang="en-US" sz="1200" dirty="0" err="1"/>
              <a:t>targetVolume</a:t>
            </a:r>
            <a:r>
              <a:rPr lang="en-US" sz="1200" dirty="0"/>
              <a:t> += </a:t>
            </a:r>
            <a:r>
              <a:rPr lang="en-US" sz="1200" dirty="0" err="1"/>
              <a:t>growthRate</a:t>
            </a:r>
            <a:r>
              <a:rPr lang="en-US" sz="1200" dirty="0"/>
              <a:t> ;</a:t>
            </a:r>
          </a:p>
          <a:p>
            <a:r>
              <a:rPr lang="en-US" sz="1200" dirty="0"/>
              <a:t>        }</a:t>
            </a:r>
          </a:p>
          <a:p>
            <a:endParaRPr lang="en-US" sz="1200" dirty="0"/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2520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406FF5-85C0-E11C-B89B-6D126CEF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7AC3-46F7-F441-79CE-3CF455396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Removing hardcoded components : xml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9EE72D5C-5FA4-DE0F-A894-1452F833F9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F77C122D-87F0-23CA-7066-7DB1B6F82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6E6D88BF-8778-46C3-BD9A-9055C63E6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B8CC26-A93F-0ACA-AC5F-F29ADDBA28C9}"/>
              </a:ext>
            </a:extLst>
          </p:cNvPr>
          <p:cNvSpPr txBox="1"/>
          <p:nvPr/>
        </p:nvSpPr>
        <p:spPr>
          <a:xfrm>
            <a:off x="484187" y="1371600"/>
            <a:ext cx="8066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</a:rPr>
              <a:t>Our aim if to have an XML definition that looks like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803D46-81F6-2ACB-AF54-7CB4D2AA5BEC}"/>
              </a:ext>
            </a:extLst>
          </p:cNvPr>
          <p:cNvSpPr txBox="1"/>
          <p:nvPr/>
        </p:nvSpPr>
        <p:spPr>
          <a:xfrm>
            <a:off x="762000" y="1833265"/>
            <a:ext cx="9225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Steppable</a:t>
            </a:r>
            <a:r>
              <a:rPr lang="en-US" dirty="0"/>
              <a:t> Type="</a:t>
            </a:r>
            <a:r>
              <a:rPr lang="en-US" dirty="0" err="1"/>
              <a:t>GrowthSteppable</a:t>
            </a:r>
            <a:r>
              <a:rPr lang="en-US" dirty="0"/>
              <a:t>"&gt;</a:t>
            </a:r>
          </a:p>
          <a:p>
            <a:r>
              <a:rPr lang="en-US" dirty="0"/>
              <a:t>    &lt;</a:t>
            </a:r>
            <a:r>
              <a:rPr lang="en-US" dirty="0" err="1"/>
              <a:t>GrowthRate</a:t>
            </a:r>
            <a:r>
              <a:rPr lang="en-US" dirty="0"/>
              <a:t>&gt;1.0&lt;/</a:t>
            </a:r>
            <a:r>
              <a:rPr lang="en-US" dirty="0" err="1"/>
              <a:t>GrowthRate</a:t>
            </a:r>
            <a:r>
              <a:rPr lang="en-US" dirty="0"/>
              <a:t>&gt;</a:t>
            </a:r>
          </a:p>
          <a:p>
            <a:r>
              <a:rPr lang="en-US" dirty="0"/>
              <a:t>&lt;/</a:t>
            </a:r>
            <a:r>
              <a:rPr lang="en-US" dirty="0" err="1"/>
              <a:t>Steppable</a:t>
            </a:r>
            <a:r>
              <a:rPr lang="en-US" dirty="0"/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409D2C-5A9C-EB25-E7AE-36ED44A47229}"/>
              </a:ext>
            </a:extLst>
          </p:cNvPr>
          <p:cNvSpPr txBox="1"/>
          <p:nvPr/>
        </p:nvSpPr>
        <p:spPr>
          <a:xfrm>
            <a:off x="484187" y="3048669"/>
            <a:ext cx="881221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void </a:t>
            </a:r>
            <a:r>
              <a:rPr lang="en-US" sz="1100" dirty="0" err="1"/>
              <a:t>GrowthSteppable</a:t>
            </a:r>
            <a:r>
              <a:rPr lang="en-US" sz="1100" dirty="0"/>
              <a:t>::update(CC3DXMLElement *_</a:t>
            </a:r>
            <a:r>
              <a:rPr lang="en-US" sz="1100" dirty="0" err="1"/>
              <a:t>xmlData</a:t>
            </a:r>
            <a:r>
              <a:rPr lang="en-US" sz="1100" dirty="0"/>
              <a:t>, bool _</a:t>
            </a:r>
            <a:r>
              <a:rPr lang="en-US" sz="1100" dirty="0" err="1"/>
              <a:t>fullInitFlag</a:t>
            </a:r>
            <a:r>
              <a:rPr lang="en-US" sz="1100" dirty="0"/>
              <a:t>){</a:t>
            </a:r>
          </a:p>
          <a:p>
            <a:endParaRPr lang="en-US" sz="1100" dirty="0"/>
          </a:p>
          <a:p>
            <a:r>
              <a:rPr lang="en-US" sz="1100" dirty="0"/>
              <a:t>    automaton = </a:t>
            </a:r>
            <a:r>
              <a:rPr lang="en-US" sz="1100" dirty="0" err="1"/>
              <a:t>potts</a:t>
            </a:r>
            <a:r>
              <a:rPr lang="en-US" sz="1100" dirty="0"/>
              <a:t>-&gt;</a:t>
            </a:r>
            <a:r>
              <a:rPr lang="en-US" sz="1100" dirty="0" err="1"/>
              <a:t>getAutomaton</a:t>
            </a:r>
            <a:r>
              <a:rPr lang="en-US" sz="1100" dirty="0"/>
              <a:t>();</a:t>
            </a:r>
          </a:p>
          <a:p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ASSERT_OR_THROW</a:t>
            </a:r>
            <a:r>
              <a:rPr lang="en-US" sz="1100" dirty="0"/>
              <a:t>("CELL TYPE PLUGIN WAS NOT PROPERLY INITIALIZED YET. MAKE SURE THIS IS THE FIRST PLUGIN THAT YOU SET", automaton)</a:t>
            </a:r>
          </a:p>
          <a:p>
            <a:endParaRPr lang="en-US" sz="1100" dirty="0"/>
          </a:p>
          <a:p>
            <a:r>
              <a:rPr lang="en-US" sz="1100" dirty="0"/>
              <a:t>   set&lt;unsigned char&gt; </a:t>
            </a:r>
            <a:r>
              <a:rPr lang="en-US" sz="1100" dirty="0" err="1"/>
              <a:t>cellTypesSet</a:t>
            </a:r>
            <a:r>
              <a:rPr lang="en-US" sz="1100" dirty="0"/>
              <a:t>;</a:t>
            </a:r>
          </a:p>
          <a:p>
            <a:endParaRPr lang="en-US" sz="1100" dirty="0"/>
          </a:p>
          <a:p>
            <a:r>
              <a:rPr lang="en-US" sz="1100" dirty="0"/>
              <a:t>    CC3DXMLElement * </a:t>
            </a:r>
            <a:r>
              <a:rPr lang="en-US" sz="1100" dirty="0" err="1"/>
              <a:t>growthElem</a:t>
            </a:r>
            <a:r>
              <a:rPr lang="en-US" sz="1100" dirty="0"/>
              <a:t> = _</a:t>
            </a:r>
            <a:r>
              <a:rPr lang="en-US" sz="1100" dirty="0" err="1"/>
              <a:t>xmlData</a:t>
            </a:r>
            <a:r>
              <a:rPr lang="en-US" sz="1100" dirty="0"/>
              <a:t>-&gt;</a:t>
            </a:r>
            <a:r>
              <a:rPr lang="en-US" sz="1100" dirty="0" err="1"/>
              <a:t>getFirstElement</a:t>
            </a:r>
            <a:r>
              <a:rPr lang="en-US" sz="1100" dirty="0"/>
              <a:t>("</a:t>
            </a:r>
            <a:r>
              <a:rPr lang="en-US" sz="1100" dirty="0" err="1"/>
              <a:t>GrowthRate</a:t>
            </a:r>
            <a:r>
              <a:rPr lang="en-US" sz="1100" dirty="0"/>
              <a:t>");</a:t>
            </a:r>
          </a:p>
          <a:p>
            <a:endParaRPr lang="en-US" sz="1100" dirty="0"/>
          </a:p>
          <a:p>
            <a:r>
              <a:rPr lang="en-US" sz="1100" dirty="0"/>
              <a:t>    if (</a:t>
            </a:r>
            <a:r>
              <a:rPr lang="en-US" sz="1100" dirty="0" err="1"/>
              <a:t>growthElem</a:t>
            </a:r>
            <a:r>
              <a:rPr lang="en-US" sz="1100" dirty="0"/>
              <a:t>){</a:t>
            </a:r>
          </a:p>
          <a:p>
            <a:endParaRPr lang="en-US" sz="1100" dirty="0"/>
          </a:p>
          <a:p>
            <a:r>
              <a:rPr lang="en-US" sz="1100" dirty="0"/>
              <a:t>        this-&gt;</a:t>
            </a:r>
            <a:r>
              <a:rPr lang="en-US" sz="1100" dirty="0" err="1"/>
              <a:t>growthRate</a:t>
            </a:r>
            <a:r>
              <a:rPr lang="en-US" sz="1100" dirty="0"/>
              <a:t> = </a:t>
            </a:r>
            <a:r>
              <a:rPr lang="en-US" sz="1100" dirty="0" err="1"/>
              <a:t>growthElem</a:t>
            </a:r>
            <a:r>
              <a:rPr lang="en-US" sz="1100" dirty="0"/>
              <a:t>-&gt;</a:t>
            </a:r>
            <a:r>
              <a:rPr lang="en-US" sz="1100" dirty="0" err="1"/>
              <a:t>getDouble</a:t>
            </a:r>
            <a:r>
              <a:rPr lang="en-US" sz="1100" dirty="0"/>
              <a:t>();</a:t>
            </a:r>
          </a:p>
          <a:p>
            <a:endParaRPr lang="en-US" sz="1100" dirty="0"/>
          </a:p>
          <a:p>
            <a:r>
              <a:rPr lang="en-US" sz="1100" dirty="0"/>
              <a:t>    }</a:t>
            </a:r>
          </a:p>
          <a:p>
            <a:endParaRPr lang="en-US" sz="1100" dirty="0"/>
          </a:p>
          <a:p>
            <a:r>
              <a:rPr lang="en-US" sz="1100" dirty="0"/>
              <a:t>    //</a:t>
            </a:r>
            <a:r>
              <a:rPr lang="en-US" sz="1100" dirty="0" err="1"/>
              <a:t>boundaryStrategy</a:t>
            </a:r>
            <a:r>
              <a:rPr lang="en-US" sz="1100" dirty="0"/>
              <a:t> has information about pixel neighbors</a:t>
            </a:r>
          </a:p>
          <a:p>
            <a:endParaRPr lang="en-US" sz="1100" dirty="0"/>
          </a:p>
          <a:p>
            <a:r>
              <a:rPr lang="en-US" sz="1100" dirty="0"/>
              <a:t>    </a:t>
            </a:r>
            <a:r>
              <a:rPr lang="en-US" sz="1100" dirty="0" err="1"/>
              <a:t>boundaryStrategy</a:t>
            </a:r>
            <a:r>
              <a:rPr lang="en-US" sz="1100" dirty="0"/>
              <a:t>=</a:t>
            </a:r>
            <a:r>
              <a:rPr lang="en-US" sz="1100" dirty="0" err="1"/>
              <a:t>BoundaryStrategy</a:t>
            </a:r>
            <a:r>
              <a:rPr lang="en-US" sz="1100" dirty="0"/>
              <a:t>::</a:t>
            </a:r>
            <a:r>
              <a:rPr lang="en-US" sz="1100" dirty="0" err="1"/>
              <a:t>getInstance</a:t>
            </a:r>
            <a:r>
              <a:rPr lang="en-US" sz="1100" dirty="0"/>
              <a:t>();</a:t>
            </a:r>
          </a:p>
          <a:p>
            <a:endParaRPr lang="en-US" sz="1100" dirty="0"/>
          </a:p>
          <a:p>
            <a:r>
              <a:rPr lang="en-U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7850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9CECA82-F7F1-1199-0061-FC1F2E418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F8D3-E3B4-FAC8-D7E1-21FFFD34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Removing hardcoded components : xml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7CB99120-A85D-7838-1F9C-5EA00E6C11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73BC2FC3-7DDD-E22B-6D56-20182E874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39E95327-FC43-C9DC-A889-868FAD9C9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DC2B19-623A-D628-D622-5D1D6C9B22D2}"/>
              </a:ext>
            </a:extLst>
          </p:cNvPr>
          <p:cNvSpPr txBox="1"/>
          <p:nvPr/>
        </p:nvSpPr>
        <p:spPr>
          <a:xfrm>
            <a:off x="484187" y="1371600"/>
            <a:ext cx="8066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</a:rPr>
              <a:t>We now need to define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</a:rPr>
              <a:t>growthRate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</a:rPr>
              <a:t> in the .h file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9E1AF-558B-F51A-4DC1-3479479159B1}"/>
              </a:ext>
            </a:extLst>
          </p:cNvPr>
          <p:cNvSpPr txBox="1"/>
          <p:nvPr/>
        </p:nvSpPr>
        <p:spPr>
          <a:xfrm>
            <a:off x="1219200" y="1905000"/>
            <a:ext cx="8229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class </a:t>
            </a:r>
            <a:r>
              <a:rPr lang="en-US" sz="1100" dirty="0" err="1"/>
              <a:t>GROWTHSTEPPABLE_EXPORT</a:t>
            </a:r>
            <a:r>
              <a:rPr lang="en-US" sz="1100" dirty="0"/>
              <a:t> </a:t>
            </a:r>
            <a:r>
              <a:rPr lang="en-US" sz="1100" dirty="0" err="1"/>
              <a:t>GrowthSteppable</a:t>
            </a:r>
            <a:r>
              <a:rPr lang="en-US" sz="1100" dirty="0"/>
              <a:t> : public </a:t>
            </a:r>
            <a:r>
              <a:rPr lang="en-US" sz="1100" dirty="0" err="1"/>
              <a:t>Steppable</a:t>
            </a:r>
            <a:r>
              <a:rPr lang="en-US" sz="1100" dirty="0"/>
              <a:t> {</a:t>
            </a:r>
          </a:p>
          <a:p>
            <a:endParaRPr lang="en-US" sz="1100" dirty="0"/>
          </a:p>
          <a:p>
            <a:r>
              <a:rPr lang="en-US" sz="1100" dirty="0"/>
              <a:t>  WatchableField3D&lt;</a:t>
            </a:r>
            <a:r>
              <a:rPr lang="en-US" sz="1100" dirty="0" err="1"/>
              <a:t>CellG</a:t>
            </a:r>
            <a:r>
              <a:rPr lang="en-US" sz="1100" dirty="0"/>
              <a:t> *&gt; *</a:t>
            </a:r>
            <a:r>
              <a:rPr lang="en-US" sz="1100" dirty="0" err="1"/>
              <a:t>cellFieldG</a:t>
            </a:r>
            <a:r>
              <a:rPr lang="en-US" sz="1100" dirty="0"/>
              <a:t>;</a:t>
            </a:r>
          </a:p>
          <a:p>
            <a:endParaRPr lang="en-US" sz="1100" dirty="0"/>
          </a:p>
          <a:p>
            <a:r>
              <a:rPr lang="en-US" sz="1100" dirty="0"/>
              <a:t>  Simulator * sim;</a:t>
            </a:r>
          </a:p>
          <a:p>
            <a:endParaRPr lang="en-US" sz="1100" dirty="0"/>
          </a:p>
          <a:p>
            <a:r>
              <a:rPr lang="en-US" sz="1100" dirty="0"/>
              <a:t>  Potts3D *</a:t>
            </a:r>
            <a:r>
              <a:rPr lang="en-US" sz="1100" dirty="0" err="1"/>
              <a:t>potts</a:t>
            </a:r>
            <a:r>
              <a:rPr lang="en-US" sz="1100" dirty="0"/>
              <a:t>;</a:t>
            </a:r>
          </a:p>
          <a:p>
            <a:endParaRPr lang="en-US" sz="1100" dirty="0"/>
          </a:p>
          <a:p>
            <a:r>
              <a:rPr lang="en-US" sz="1100" dirty="0"/>
              <a:t>  CC3DXMLElement *</a:t>
            </a:r>
            <a:r>
              <a:rPr lang="en-US" sz="1100" dirty="0" err="1"/>
              <a:t>xmlData</a:t>
            </a:r>
            <a:r>
              <a:rPr lang="en-US" sz="1100" dirty="0"/>
              <a:t>;</a:t>
            </a:r>
          </a:p>
          <a:p>
            <a:endParaRPr lang="en-US" sz="1100" dirty="0"/>
          </a:p>
          <a:p>
            <a:r>
              <a:rPr lang="en-US" sz="1100" dirty="0"/>
              <a:t>  Automaton *automaton;</a:t>
            </a:r>
          </a:p>
          <a:p>
            <a:endParaRPr lang="en-US" sz="1100" dirty="0"/>
          </a:p>
          <a:p>
            <a:r>
              <a:rPr lang="en-US" sz="1100" dirty="0"/>
              <a:t>  </a:t>
            </a:r>
            <a:r>
              <a:rPr lang="en-US" sz="1100" dirty="0" err="1"/>
              <a:t>BoundaryStrategy</a:t>
            </a:r>
            <a:r>
              <a:rPr lang="en-US" sz="1100" dirty="0"/>
              <a:t> *</a:t>
            </a:r>
            <a:r>
              <a:rPr lang="en-US" sz="1100" dirty="0" err="1"/>
              <a:t>boundaryStrategy</a:t>
            </a:r>
            <a:r>
              <a:rPr lang="en-US" sz="1100" dirty="0"/>
              <a:t>;</a:t>
            </a:r>
          </a:p>
          <a:p>
            <a:endParaRPr lang="en-US" sz="1100" dirty="0"/>
          </a:p>
          <a:p>
            <a:r>
              <a:rPr lang="en-US" sz="1100" dirty="0"/>
              <a:t>  </a:t>
            </a:r>
            <a:r>
              <a:rPr lang="en-US" sz="1100" dirty="0" err="1"/>
              <a:t>CellInventory</a:t>
            </a:r>
            <a:r>
              <a:rPr lang="en-US" sz="1100" dirty="0"/>
              <a:t> * </a:t>
            </a:r>
            <a:r>
              <a:rPr lang="en-US" sz="1100" dirty="0" err="1"/>
              <a:t>cellInventoryPtr</a:t>
            </a:r>
            <a:r>
              <a:rPr lang="en-US" sz="1100" dirty="0"/>
              <a:t>;</a:t>
            </a:r>
          </a:p>
          <a:p>
            <a:endParaRPr lang="en-US" sz="1100" dirty="0"/>
          </a:p>
          <a:p>
            <a:r>
              <a:rPr lang="en-US" sz="1100" dirty="0"/>
              <a:t>  Dim3D </a:t>
            </a:r>
            <a:r>
              <a:rPr lang="en-US" sz="1100" dirty="0" err="1"/>
              <a:t>fieldDim</a:t>
            </a:r>
            <a:r>
              <a:rPr lang="en-US" sz="1100" dirty="0"/>
              <a:t>;</a:t>
            </a:r>
          </a:p>
          <a:p>
            <a:endParaRPr lang="en-US" sz="1100" dirty="0"/>
          </a:p>
          <a:p>
            <a:r>
              <a:rPr lang="en-US" sz="1100" dirty="0"/>
              <a:t>public:</a:t>
            </a:r>
          </a:p>
          <a:p>
            <a:endParaRPr lang="en-US" sz="1100" dirty="0"/>
          </a:p>
          <a:p>
            <a:r>
              <a:rPr lang="en-US" sz="1100" dirty="0"/>
              <a:t>  </a:t>
            </a:r>
            <a:r>
              <a:rPr lang="en-US" sz="1100" dirty="0" err="1"/>
              <a:t>GrowthSteppable</a:t>
            </a:r>
            <a:r>
              <a:rPr lang="en-US" sz="1100" dirty="0"/>
              <a:t> ();</a:t>
            </a:r>
          </a:p>
          <a:p>
            <a:endParaRPr lang="en-US" sz="1100" dirty="0"/>
          </a:p>
          <a:p>
            <a:r>
              <a:rPr lang="en-US" sz="1100" dirty="0"/>
              <a:t>  virtual ~</a:t>
            </a:r>
            <a:r>
              <a:rPr lang="en-US" sz="1100" dirty="0" err="1"/>
              <a:t>GrowthSteppable</a:t>
            </a:r>
            <a:r>
              <a:rPr lang="en-US" sz="1100" dirty="0"/>
              <a:t> ();</a:t>
            </a:r>
          </a:p>
          <a:p>
            <a:endParaRPr lang="en-US" sz="1100" dirty="0"/>
          </a:p>
          <a:p>
            <a:r>
              <a:rPr lang="en-US" sz="1100" dirty="0"/>
              <a:t>  </a:t>
            </a:r>
            <a:r>
              <a:rPr lang="en-US" sz="1100" b="1" dirty="0">
                <a:highlight>
                  <a:srgbClr val="FFFF00"/>
                </a:highlight>
              </a:rPr>
              <a:t>double </a:t>
            </a:r>
            <a:r>
              <a:rPr lang="en-US" sz="1100" b="1" dirty="0" err="1">
                <a:highlight>
                  <a:srgbClr val="FFFF00"/>
                </a:highlight>
              </a:rPr>
              <a:t>growthRate</a:t>
            </a:r>
            <a:r>
              <a:rPr lang="en-US" sz="1100" b="1" dirty="0">
                <a:highlight>
                  <a:srgbClr val="FFFF00"/>
                </a:highlight>
              </a:rPr>
              <a:t>;</a:t>
            </a:r>
          </a:p>
          <a:p>
            <a:endParaRPr lang="en-US" sz="1100" dirty="0"/>
          </a:p>
          <a:p>
            <a:r>
              <a:rPr lang="en-US" sz="1100" dirty="0"/>
              <a:t>  ...</a:t>
            </a:r>
          </a:p>
          <a:p>
            <a:r>
              <a:rPr lang="en-US" sz="1100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067327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C1AC71F-72AD-6F87-8744-018273FF3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7BE1F-BF90-7EAA-AC04-4F0590BCA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Removing hardcoded components : xml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2F12707A-1244-86FC-7DC6-BA93CC8DCF9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E0701D8D-4DF4-289A-F41B-E5FA8A802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C0F43EA0-E333-697A-93B5-15E84FDE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5717F6-2B63-2915-9D2E-1177041C2D20}"/>
              </a:ext>
            </a:extLst>
          </p:cNvPr>
          <p:cNvSpPr txBox="1"/>
          <p:nvPr/>
        </p:nvSpPr>
        <p:spPr>
          <a:xfrm>
            <a:off x="484187" y="1371600"/>
            <a:ext cx="8066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</a:rPr>
              <a:t>And modify our step function to reference the value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CCB24-92D0-6A72-2100-8CEB6F393394}"/>
              </a:ext>
            </a:extLst>
          </p:cNvPr>
          <p:cNvSpPr txBox="1"/>
          <p:nvPr/>
        </p:nvSpPr>
        <p:spPr>
          <a:xfrm>
            <a:off x="685800" y="2174471"/>
            <a:ext cx="8839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void </a:t>
            </a:r>
            <a:r>
              <a:rPr lang="en-US" sz="1200" dirty="0" err="1"/>
              <a:t>GrowthSteppable</a:t>
            </a:r>
            <a:r>
              <a:rPr lang="en-US" sz="1200" dirty="0"/>
              <a:t>::step(const unsigned int </a:t>
            </a:r>
            <a:r>
              <a:rPr lang="en-US" sz="1200" dirty="0" err="1"/>
              <a:t>currentStep</a:t>
            </a:r>
            <a:r>
              <a:rPr lang="en-US" sz="1200" dirty="0"/>
              <a:t>){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CellInventory</a:t>
            </a:r>
            <a:r>
              <a:rPr lang="en-US" sz="1200" dirty="0"/>
              <a:t>::</a:t>
            </a:r>
            <a:r>
              <a:rPr lang="en-US" sz="1200" dirty="0" err="1"/>
              <a:t>cellInventoryIterator</a:t>
            </a:r>
            <a:r>
              <a:rPr lang="en-US" sz="1200" dirty="0"/>
              <a:t> </a:t>
            </a:r>
            <a:r>
              <a:rPr lang="en-US" sz="1200" dirty="0" err="1"/>
              <a:t>cInvItr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CellG</a:t>
            </a:r>
            <a:r>
              <a:rPr lang="en-US" sz="1200" dirty="0"/>
              <a:t> * cell=0;</a:t>
            </a:r>
          </a:p>
          <a:p>
            <a:endParaRPr lang="en-US" sz="1200" dirty="0"/>
          </a:p>
          <a:p>
            <a:r>
              <a:rPr lang="en-US" sz="1200" dirty="0"/>
              <a:t>   if (</a:t>
            </a:r>
            <a:r>
              <a:rPr lang="en-US" sz="1200" dirty="0" err="1"/>
              <a:t>currentStep</a:t>
            </a:r>
            <a:r>
              <a:rPr lang="en-US" sz="1200" dirty="0"/>
              <a:t> &gt; 100)</a:t>
            </a:r>
          </a:p>
          <a:p>
            <a:r>
              <a:rPr lang="en-US" sz="1200" dirty="0"/>
              <a:t>       return;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   for(</a:t>
            </a:r>
            <a:r>
              <a:rPr lang="en-US" sz="1200" dirty="0" err="1"/>
              <a:t>cInvItr</a:t>
            </a:r>
            <a:r>
              <a:rPr lang="en-US" sz="1200" dirty="0"/>
              <a:t>=</a:t>
            </a:r>
            <a:r>
              <a:rPr lang="en-US" sz="1200" dirty="0" err="1"/>
              <a:t>cellInventoryPtr</a:t>
            </a:r>
            <a:r>
              <a:rPr lang="en-US" sz="1200" dirty="0"/>
              <a:t>-&gt;</a:t>
            </a:r>
            <a:r>
              <a:rPr lang="en-US" sz="1200" dirty="0" err="1"/>
              <a:t>cellInventoryBegin</a:t>
            </a:r>
            <a:r>
              <a:rPr lang="en-US" sz="1200" dirty="0"/>
              <a:t>() ; </a:t>
            </a:r>
            <a:r>
              <a:rPr lang="en-US" sz="1200" dirty="0" err="1"/>
              <a:t>cInvItr</a:t>
            </a:r>
            <a:r>
              <a:rPr lang="en-US" sz="1200" dirty="0"/>
              <a:t> !=</a:t>
            </a:r>
            <a:r>
              <a:rPr lang="en-US" sz="1200" dirty="0" err="1"/>
              <a:t>cellInventoryPtr</a:t>
            </a:r>
            <a:r>
              <a:rPr lang="en-US" sz="1200" dirty="0"/>
              <a:t>-&gt;</a:t>
            </a:r>
            <a:r>
              <a:rPr lang="en-US" sz="1200" dirty="0" err="1"/>
              <a:t>cellInventoryEnd</a:t>
            </a:r>
            <a:r>
              <a:rPr lang="en-US" sz="1200" dirty="0"/>
              <a:t>() ;++</a:t>
            </a:r>
            <a:r>
              <a:rPr lang="en-US" sz="1200" dirty="0" err="1"/>
              <a:t>cInvItr</a:t>
            </a:r>
            <a:r>
              <a:rPr lang="en-US" sz="1200" dirty="0"/>
              <a:t> )</a:t>
            </a:r>
          </a:p>
          <a:p>
            <a:r>
              <a:rPr lang="en-US" sz="1200" dirty="0"/>
              <a:t>    {</a:t>
            </a:r>
          </a:p>
          <a:p>
            <a:endParaRPr lang="en-US" sz="1200" dirty="0"/>
          </a:p>
          <a:p>
            <a:r>
              <a:rPr lang="en-US" sz="1200" dirty="0"/>
              <a:t>        cell=</a:t>
            </a:r>
            <a:r>
              <a:rPr lang="en-US" sz="1200" dirty="0" err="1"/>
              <a:t>cellInventoryPtr</a:t>
            </a:r>
            <a:r>
              <a:rPr lang="en-US" sz="1200" dirty="0"/>
              <a:t>-&gt;</a:t>
            </a:r>
            <a:r>
              <a:rPr lang="en-US" sz="1200" dirty="0" err="1"/>
              <a:t>getCell</a:t>
            </a:r>
            <a:r>
              <a:rPr lang="en-US" sz="1200" dirty="0"/>
              <a:t>(</a:t>
            </a:r>
            <a:r>
              <a:rPr lang="en-US" sz="1200" dirty="0" err="1"/>
              <a:t>cInvItr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        if (cell-&gt;type == 1){</a:t>
            </a:r>
          </a:p>
          <a:p>
            <a:r>
              <a:rPr lang="en-US" sz="1200" dirty="0"/>
              <a:t>            cell-&gt;</a:t>
            </a:r>
            <a:r>
              <a:rPr lang="en-US" sz="1200" dirty="0" err="1"/>
              <a:t>targetVolume</a:t>
            </a:r>
            <a:r>
              <a:rPr lang="en-US" sz="1200" dirty="0"/>
              <a:t> += </a:t>
            </a:r>
            <a:r>
              <a:rPr lang="en-US" sz="1200" b="1" dirty="0">
                <a:highlight>
                  <a:srgbClr val="FFFF00"/>
                </a:highlight>
              </a:rPr>
              <a:t>this-&gt;</a:t>
            </a:r>
            <a:r>
              <a:rPr lang="en-US" sz="1200" b="1" dirty="0" err="1">
                <a:highlight>
                  <a:srgbClr val="FFFF00"/>
                </a:highlight>
              </a:rPr>
              <a:t>growthRate</a:t>
            </a:r>
            <a:r>
              <a:rPr lang="en-US" sz="1200" b="1" dirty="0">
                <a:highlight>
                  <a:srgbClr val="FFFF00"/>
                </a:highlight>
              </a:rPr>
              <a:t>;</a:t>
            </a:r>
          </a:p>
          <a:p>
            <a:r>
              <a:rPr lang="en-US" sz="1200" dirty="0"/>
              <a:t>        }</a:t>
            </a:r>
          </a:p>
          <a:p>
            <a:endParaRPr lang="en-US" sz="1200" dirty="0"/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5194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C8E3BE-A04C-33A3-9AAE-0B0D6D6DC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BBCD4-A231-40F7-3A08-B96A7547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0"/>
            <a:ext cx="8229600" cy="1143000"/>
          </a:xfrm>
        </p:spPr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Allowing Different Growth Rates for Different Cell types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4CF649E0-6C12-55B4-998B-F8F2D8EC0A4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15D19378-A1E2-5C6E-B1E9-CFF90A3A3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D5A20F88-6D40-A3A6-6138-9B9191AB8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FF9C7D-CA21-96FF-935E-A5DDDF270DD3}"/>
              </a:ext>
            </a:extLst>
          </p:cNvPr>
          <p:cNvSpPr txBox="1"/>
          <p:nvPr/>
        </p:nvSpPr>
        <p:spPr>
          <a:xfrm>
            <a:off x="511970" y="1066800"/>
            <a:ext cx="8066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</a:rPr>
              <a:t>We will need to leverage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Lato" panose="020F0502020204030203" pitchFamily="34" charset="0"/>
              </a:rPr>
              <a:t>STL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Lato" panose="020F0502020204030203" pitchFamily="34" charset="0"/>
              </a:rPr>
              <a:t> maps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582F3-513C-567F-6E81-ED82BC04BF31}"/>
              </a:ext>
            </a:extLst>
          </p:cNvPr>
          <p:cNvSpPr txBox="1"/>
          <p:nvPr/>
        </p:nvSpPr>
        <p:spPr>
          <a:xfrm>
            <a:off x="990550" y="1528465"/>
            <a:ext cx="8153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class </a:t>
            </a:r>
            <a:r>
              <a:rPr lang="en-US" sz="1200" dirty="0" err="1"/>
              <a:t>GROWTHSTEPPABLE_EXPORT</a:t>
            </a:r>
            <a:r>
              <a:rPr lang="en-US" sz="1200" dirty="0"/>
              <a:t> </a:t>
            </a:r>
            <a:r>
              <a:rPr lang="en-US" sz="1200" dirty="0" err="1"/>
              <a:t>GrowthSteppable</a:t>
            </a:r>
            <a:r>
              <a:rPr lang="en-US" sz="1200" dirty="0"/>
              <a:t> : public </a:t>
            </a:r>
            <a:r>
              <a:rPr lang="en-US" sz="1200" dirty="0" err="1"/>
              <a:t>Steppable</a:t>
            </a:r>
            <a:r>
              <a:rPr lang="en-US" sz="1200" dirty="0"/>
              <a:t> {</a:t>
            </a:r>
          </a:p>
          <a:p>
            <a:endParaRPr lang="en-US" sz="1200" dirty="0"/>
          </a:p>
          <a:p>
            <a:r>
              <a:rPr lang="en-US" sz="1200" dirty="0"/>
              <a:t>  WatchableField3D&lt;</a:t>
            </a:r>
            <a:r>
              <a:rPr lang="en-US" sz="1200" dirty="0" err="1"/>
              <a:t>CellG</a:t>
            </a:r>
            <a:r>
              <a:rPr lang="en-US" sz="1200" dirty="0"/>
              <a:t> *&gt; *</a:t>
            </a:r>
            <a:r>
              <a:rPr lang="en-US" sz="1200" dirty="0" err="1"/>
              <a:t>cellFieldG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Simulator * sim;</a:t>
            </a:r>
          </a:p>
          <a:p>
            <a:endParaRPr lang="en-US" sz="1200" dirty="0"/>
          </a:p>
          <a:p>
            <a:r>
              <a:rPr lang="en-US" sz="1200" dirty="0"/>
              <a:t>  Potts3D *</a:t>
            </a:r>
            <a:r>
              <a:rPr lang="en-US" sz="1200" dirty="0" err="1"/>
              <a:t>potts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CC3DXMLElement *</a:t>
            </a:r>
            <a:r>
              <a:rPr lang="en-US" sz="1200" dirty="0" err="1"/>
              <a:t>xmlData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Automaton *automaton;</a:t>
            </a:r>
          </a:p>
          <a:p>
            <a:endParaRPr lang="en-US" sz="1200" dirty="0"/>
          </a:p>
          <a:p>
            <a:r>
              <a:rPr lang="en-US" sz="1200" dirty="0"/>
              <a:t>  </a:t>
            </a:r>
            <a:r>
              <a:rPr lang="en-US" sz="1200" dirty="0" err="1"/>
              <a:t>BoundaryStrategy</a:t>
            </a:r>
            <a:r>
              <a:rPr lang="en-US" sz="1200" dirty="0"/>
              <a:t> *</a:t>
            </a:r>
            <a:r>
              <a:rPr lang="en-US" sz="1200" dirty="0" err="1"/>
              <a:t>boundaryStrategy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</a:t>
            </a:r>
            <a:r>
              <a:rPr lang="en-US" sz="1200" dirty="0" err="1"/>
              <a:t>CellInventory</a:t>
            </a:r>
            <a:r>
              <a:rPr lang="en-US" sz="1200" dirty="0"/>
              <a:t> * </a:t>
            </a:r>
            <a:r>
              <a:rPr lang="en-US" sz="1200" dirty="0" err="1"/>
              <a:t>cellInventoryPtr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Dim3D </a:t>
            </a:r>
            <a:r>
              <a:rPr lang="en-US" sz="1200" dirty="0" err="1"/>
              <a:t>fieldDim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public:</a:t>
            </a:r>
          </a:p>
          <a:p>
            <a:endParaRPr lang="en-US" sz="1200" dirty="0"/>
          </a:p>
          <a:p>
            <a:r>
              <a:rPr lang="en-US" sz="1200" dirty="0"/>
              <a:t>  </a:t>
            </a:r>
            <a:r>
              <a:rPr lang="en-US" sz="1200" dirty="0" err="1"/>
              <a:t>GrowthSteppable</a:t>
            </a:r>
            <a:r>
              <a:rPr lang="en-US" sz="1200" dirty="0"/>
              <a:t> ();</a:t>
            </a:r>
          </a:p>
          <a:p>
            <a:endParaRPr lang="en-US" sz="1200" dirty="0"/>
          </a:p>
          <a:p>
            <a:r>
              <a:rPr lang="en-US" sz="1200" dirty="0"/>
              <a:t>  virtual ~</a:t>
            </a:r>
            <a:r>
              <a:rPr lang="en-US" sz="1200" dirty="0" err="1"/>
              <a:t>GrowthSteppable</a:t>
            </a:r>
            <a:r>
              <a:rPr lang="en-US" sz="1200" dirty="0"/>
              <a:t> ();</a:t>
            </a:r>
          </a:p>
          <a:p>
            <a:endParaRPr lang="en-US" sz="1200" dirty="0"/>
          </a:p>
          <a:p>
            <a:r>
              <a:rPr lang="en-US" sz="1200" dirty="0">
                <a:highlight>
                  <a:srgbClr val="FFFF00"/>
                </a:highlight>
              </a:rPr>
              <a:t>  std::map&lt;unsigned int, double&gt; </a:t>
            </a:r>
            <a:r>
              <a:rPr lang="en-US" sz="1200" dirty="0" err="1">
                <a:highlight>
                  <a:srgbClr val="FFFF00"/>
                </a:highlight>
              </a:rPr>
              <a:t>growthRateMap</a:t>
            </a:r>
            <a:r>
              <a:rPr lang="en-US" sz="1200" dirty="0">
                <a:highlight>
                  <a:srgbClr val="FFFF00"/>
                </a:highlight>
              </a:rPr>
              <a:t>;</a:t>
            </a:r>
          </a:p>
          <a:p>
            <a:endParaRPr lang="en-US" sz="1200" dirty="0"/>
          </a:p>
          <a:p>
            <a:r>
              <a:rPr lang="en-US" sz="1200" dirty="0"/>
              <a:t>  ...</a:t>
            </a:r>
          </a:p>
          <a:p>
            <a:r>
              <a:rPr lang="en-US" sz="1200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542926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CB71B1-6AB9-8DCC-2ED1-21C471B8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97EB-5828-1AB6-F413-5FD328A7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0"/>
            <a:ext cx="8229600" cy="1143000"/>
          </a:xfrm>
        </p:spPr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We expect this XML structure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053E603A-8F82-4ACF-A791-CA78FB26828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B3C38E68-CC6C-81D4-4541-4EF6CA4F5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24470B09-04F8-D5E1-E734-EF121D012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D5832F4-45D2-BD69-494A-E093CD8E9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92" y="843915"/>
            <a:ext cx="4906471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Steppable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SFMono-Regular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Type="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GrowthSteppable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"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GrowthRate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SFMono-Regula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CellType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="1"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1.3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&lt;/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GrowthRate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GrowthRate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SFMono-Regula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CellType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="2"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1.7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&lt;/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GrowthRate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&lt;/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Steppable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731962-2A13-6EE6-E553-EB011BE0344B}"/>
              </a:ext>
            </a:extLst>
          </p:cNvPr>
          <p:cNvSpPr txBox="1"/>
          <p:nvPr/>
        </p:nvSpPr>
        <p:spPr>
          <a:xfrm>
            <a:off x="609600" y="1828800"/>
            <a:ext cx="8839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void </a:t>
            </a:r>
            <a:r>
              <a:rPr lang="en-US" sz="1400" dirty="0" err="1"/>
              <a:t>GrowthSteppable</a:t>
            </a:r>
            <a:r>
              <a:rPr lang="en-US" sz="1400" dirty="0"/>
              <a:t>::update(CC3DXMLElement *_</a:t>
            </a:r>
            <a:r>
              <a:rPr lang="en-US" sz="1400" dirty="0" err="1"/>
              <a:t>xmlData</a:t>
            </a:r>
            <a:r>
              <a:rPr lang="en-US" sz="1400" dirty="0"/>
              <a:t>, bool _</a:t>
            </a:r>
            <a:r>
              <a:rPr lang="en-US" sz="1400" dirty="0" err="1"/>
              <a:t>fullInitFlag</a:t>
            </a:r>
            <a:r>
              <a:rPr lang="en-US" sz="1400" dirty="0"/>
              <a:t>){</a:t>
            </a:r>
          </a:p>
          <a:p>
            <a:endParaRPr lang="en-US" sz="1400" dirty="0"/>
          </a:p>
          <a:p>
            <a:r>
              <a:rPr lang="en-US" sz="1400" dirty="0"/>
              <a:t>    automaton = </a:t>
            </a:r>
            <a:r>
              <a:rPr lang="en-US" sz="1400" dirty="0" err="1"/>
              <a:t>potts</a:t>
            </a:r>
            <a:r>
              <a:rPr lang="en-US" sz="1400" dirty="0"/>
              <a:t>-&gt;</a:t>
            </a:r>
            <a:r>
              <a:rPr lang="en-US" sz="1400" dirty="0" err="1"/>
              <a:t>getAutomaton</a:t>
            </a:r>
            <a:r>
              <a:rPr lang="en-US" sz="1400" dirty="0"/>
              <a:t>();</a:t>
            </a:r>
          </a:p>
          <a:p>
            <a:endParaRPr lang="en-US" sz="1400" dirty="0"/>
          </a:p>
          <a:p>
            <a:r>
              <a:rPr lang="en-US" sz="1400" dirty="0"/>
              <a:t>    </a:t>
            </a:r>
            <a:r>
              <a:rPr lang="en-US" sz="1400" dirty="0" err="1"/>
              <a:t>ASSERT_OR_THROW</a:t>
            </a:r>
            <a:r>
              <a:rPr lang="en-US" sz="1400" dirty="0"/>
              <a:t>("CELL TYPE PLUGIN WAS NOT PROPERLY INITIALIZED YET. MAKE SURE THIS IS THE FIRST PLUGIN THAT YOU SET", automaton)</a:t>
            </a:r>
          </a:p>
          <a:p>
            <a:endParaRPr lang="en-US" sz="1400" dirty="0"/>
          </a:p>
          <a:p>
            <a:r>
              <a:rPr lang="en-US" sz="1400" dirty="0"/>
              <a:t>    set&lt;unsigned char&gt; </a:t>
            </a:r>
            <a:r>
              <a:rPr lang="en-US" sz="1400" dirty="0" err="1"/>
              <a:t>cellTypesSet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en-US" sz="1400" dirty="0">
                <a:highlight>
                  <a:srgbClr val="FFFF00"/>
                </a:highlight>
              </a:rPr>
              <a:t>    CC3DXMLElementList </a:t>
            </a:r>
            <a:r>
              <a:rPr lang="en-US" sz="1400" dirty="0" err="1">
                <a:highlight>
                  <a:srgbClr val="FFFF00"/>
                </a:highlight>
              </a:rPr>
              <a:t>growthVec</a:t>
            </a:r>
            <a:r>
              <a:rPr lang="en-US" sz="1400" dirty="0">
                <a:highlight>
                  <a:srgbClr val="FFFF00"/>
                </a:highlight>
              </a:rPr>
              <a:t> = _</a:t>
            </a:r>
            <a:r>
              <a:rPr lang="en-US" sz="1400" dirty="0" err="1">
                <a:highlight>
                  <a:srgbClr val="FFFF00"/>
                </a:highlight>
              </a:rPr>
              <a:t>xmlData</a:t>
            </a:r>
            <a:r>
              <a:rPr lang="en-US" sz="1400" dirty="0">
                <a:highlight>
                  <a:srgbClr val="FFFF00"/>
                </a:highlight>
              </a:rPr>
              <a:t>-&gt;</a:t>
            </a:r>
            <a:r>
              <a:rPr lang="en-US" sz="1400" dirty="0" err="1">
                <a:highlight>
                  <a:srgbClr val="FFFF00"/>
                </a:highlight>
              </a:rPr>
              <a:t>getElements</a:t>
            </a:r>
            <a:r>
              <a:rPr lang="en-US" sz="1400" dirty="0">
                <a:highlight>
                  <a:srgbClr val="FFFF00"/>
                </a:highlight>
              </a:rPr>
              <a:t>("</a:t>
            </a:r>
            <a:r>
              <a:rPr lang="en-US" sz="1400" dirty="0" err="1">
                <a:highlight>
                  <a:srgbClr val="FFFF00"/>
                </a:highlight>
              </a:rPr>
              <a:t>GrowthRate</a:t>
            </a:r>
            <a:r>
              <a:rPr lang="en-US" sz="1400" dirty="0">
                <a:highlight>
                  <a:srgbClr val="FFFF00"/>
                </a:highlight>
              </a:rPr>
              <a:t>");</a:t>
            </a:r>
          </a:p>
          <a:p>
            <a:endParaRPr lang="en-US" sz="1400" dirty="0">
              <a:highlight>
                <a:srgbClr val="FFFF00"/>
              </a:highlight>
            </a:endParaRPr>
          </a:p>
          <a:p>
            <a:r>
              <a:rPr lang="en-US" sz="1400" dirty="0">
                <a:highlight>
                  <a:srgbClr val="FFFF00"/>
                </a:highlight>
              </a:rPr>
              <a:t>    for (int </a:t>
            </a:r>
            <a:r>
              <a:rPr lang="en-US" sz="1400" dirty="0" err="1">
                <a:highlight>
                  <a:srgbClr val="FFFF00"/>
                </a:highlight>
              </a:rPr>
              <a:t>i</a:t>
            </a:r>
            <a:r>
              <a:rPr lang="en-US" sz="1400" dirty="0">
                <a:highlight>
                  <a:srgbClr val="FFFF00"/>
                </a:highlight>
              </a:rPr>
              <a:t> = 0; </a:t>
            </a:r>
            <a:r>
              <a:rPr lang="en-US" sz="1400" dirty="0" err="1">
                <a:highlight>
                  <a:srgbClr val="FFFF00"/>
                </a:highlight>
              </a:rPr>
              <a:t>i</a:t>
            </a:r>
            <a:r>
              <a:rPr lang="en-US" sz="1400" dirty="0">
                <a:highlight>
                  <a:srgbClr val="FFFF00"/>
                </a:highlight>
              </a:rPr>
              <a:t> &lt; </a:t>
            </a:r>
            <a:r>
              <a:rPr lang="en-US" sz="1400" dirty="0" err="1">
                <a:highlight>
                  <a:srgbClr val="FFFF00"/>
                </a:highlight>
              </a:rPr>
              <a:t>growthVec.size</a:t>
            </a:r>
            <a:r>
              <a:rPr lang="en-US" sz="1400" dirty="0">
                <a:highlight>
                  <a:srgbClr val="FFFF00"/>
                </a:highlight>
              </a:rPr>
              <a:t>(); ++</a:t>
            </a:r>
            <a:r>
              <a:rPr lang="en-US" sz="1400" dirty="0" err="1">
                <a:highlight>
                  <a:srgbClr val="FFFF00"/>
                </a:highlight>
              </a:rPr>
              <a:t>i</a:t>
            </a:r>
            <a:r>
              <a:rPr lang="en-US" sz="1400" dirty="0">
                <a:highlight>
                  <a:srgbClr val="FFFF00"/>
                </a:highlight>
              </a:rPr>
              <a:t>) {</a:t>
            </a:r>
          </a:p>
          <a:p>
            <a:r>
              <a:rPr lang="en-US" sz="1400" dirty="0">
                <a:highlight>
                  <a:srgbClr val="FFFF00"/>
                </a:highlight>
              </a:rPr>
              <a:t>        unsigned int </a:t>
            </a:r>
            <a:r>
              <a:rPr lang="en-US" sz="1400" dirty="0" err="1">
                <a:highlight>
                  <a:srgbClr val="FFFF00"/>
                </a:highlight>
              </a:rPr>
              <a:t>cellType</a:t>
            </a:r>
            <a:r>
              <a:rPr lang="en-US" sz="1400" dirty="0">
                <a:highlight>
                  <a:srgbClr val="FFFF00"/>
                </a:highlight>
              </a:rPr>
              <a:t> = </a:t>
            </a:r>
            <a:r>
              <a:rPr lang="en-US" sz="1400" dirty="0" err="1">
                <a:highlight>
                  <a:srgbClr val="FFFF00"/>
                </a:highlight>
              </a:rPr>
              <a:t>growthVec</a:t>
            </a:r>
            <a:r>
              <a:rPr lang="en-US" sz="1400" dirty="0">
                <a:highlight>
                  <a:srgbClr val="FFFF00"/>
                </a:highlight>
              </a:rPr>
              <a:t>[</a:t>
            </a:r>
            <a:r>
              <a:rPr lang="en-US" sz="1400" dirty="0" err="1">
                <a:highlight>
                  <a:srgbClr val="FFFF00"/>
                </a:highlight>
              </a:rPr>
              <a:t>i</a:t>
            </a:r>
            <a:r>
              <a:rPr lang="en-US" sz="1400" dirty="0">
                <a:highlight>
                  <a:srgbClr val="FFFF00"/>
                </a:highlight>
              </a:rPr>
              <a:t>]-&gt;</a:t>
            </a:r>
            <a:r>
              <a:rPr lang="en-US" sz="1400" dirty="0" err="1">
                <a:highlight>
                  <a:srgbClr val="FFFF00"/>
                </a:highlight>
              </a:rPr>
              <a:t>getAttributeAsUInt</a:t>
            </a:r>
            <a:r>
              <a:rPr lang="en-US" sz="1400" dirty="0">
                <a:highlight>
                  <a:srgbClr val="FFFF00"/>
                </a:highlight>
              </a:rPr>
              <a:t>("</a:t>
            </a:r>
            <a:r>
              <a:rPr lang="en-US" sz="1400" dirty="0" err="1">
                <a:highlight>
                  <a:srgbClr val="FFFF00"/>
                </a:highlight>
              </a:rPr>
              <a:t>CellType</a:t>
            </a:r>
            <a:r>
              <a:rPr lang="en-US" sz="1400" dirty="0">
                <a:highlight>
                  <a:srgbClr val="FFFF00"/>
                </a:highlight>
              </a:rPr>
              <a:t>");</a:t>
            </a:r>
          </a:p>
          <a:p>
            <a:r>
              <a:rPr lang="en-US" sz="1400" dirty="0">
                <a:highlight>
                  <a:srgbClr val="FFFF00"/>
                </a:highlight>
              </a:rPr>
              <a:t>        double </a:t>
            </a:r>
            <a:r>
              <a:rPr lang="en-US" sz="1400" dirty="0" err="1">
                <a:highlight>
                  <a:srgbClr val="FFFF00"/>
                </a:highlight>
              </a:rPr>
              <a:t>growthRateTmp</a:t>
            </a:r>
            <a:r>
              <a:rPr lang="en-US" sz="1400" dirty="0">
                <a:highlight>
                  <a:srgbClr val="FFFF00"/>
                </a:highlight>
              </a:rPr>
              <a:t> = </a:t>
            </a:r>
            <a:r>
              <a:rPr lang="en-US" sz="1400" dirty="0" err="1">
                <a:highlight>
                  <a:srgbClr val="FFFF00"/>
                </a:highlight>
              </a:rPr>
              <a:t>growthVec</a:t>
            </a:r>
            <a:r>
              <a:rPr lang="en-US" sz="1400" dirty="0">
                <a:highlight>
                  <a:srgbClr val="FFFF00"/>
                </a:highlight>
              </a:rPr>
              <a:t>[</a:t>
            </a:r>
            <a:r>
              <a:rPr lang="en-US" sz="1400" dirty="0" err="1">
                <a:highlight>
                  <a:srgbClr val="FFFF00"/>
                </a:highlight>
              </a:rPr>
              <a:t>i</a:t>
            </a:r>
            <a:r>
              <a:rPr lang="en-US" sz="1400" dirty="0">
                <a:highlight>
                  <a:srgbClr val="FFFF00"/>
                </a:highlight>
              </a:rPr>
              <a:t>]-&gt;</a:t>
            </a:r>
            <a:r>
              <a:rPr lang="en-US" sz="1400" dirty="0" err="1">
                <a:highlight>
                  <a:srgbClr val="FFFF00"/>
                </a:highlight>
              </a:rPr>
              <a:t>getDouble</a:t>
            </a:r>
            <a:r>
              <a:rPr lang="en-US" sz="1400" dirty="0">
                <a:highlight>
                  <a:srgbClr val="FFFF00"/>
                </a:highlight>
              </a:rPr>
              <a:t>();</a:t>
            </a:r>
          </a:p>
          <a:p>
            <a:r>
              <a:rPr lang="en-US" sz="1400" dirty="0">
                <a:highlight>
                  <a:srgbClr val="FFFF00"/>
                </a:highlight>
              </a:rPr>
              <a:t>        this-&gt;</a:t>
            </a:r>
            <a:r>
              <a:rPr lang="en-US" sz="1400" dirty="0" err="1">
                <a:highlight>
                  <a:srgbClr val="FFFF00"/>
                </a:highlight>
              </a:rPr>
              <a:t>growthRateMap</a:t>
            </a:r>
            <a:r>
              <a:rPr lang="en-US" sz="1400" dirty="0">
                <a:highlight>
                  <a:srgbClr val="FFFF00"/>
                </a:highlight>
              </a:rPr>
              <a:t>[</a:t>
            </a:r>
            <a:r>
              <a:rPr lang="en-US" sz="1400" dirty="0" err="1">
                <a:highlight>
                  <a:srgbClr val="FFFF00"/>
                </a:highlight>
              </a:rPr>
              <a:t>cellType</a:t>
            </a:r>
            <a:r>
              <a:rPr lang="en-US" sz="1400" dirty="0">
                <a:highlight>
                  <a:srgbClr val="FFFF00"/>
                </a:highlight>
              </a:rPr>
              <a:t>] = </a:t>
            </a:r>
            <a:r>
              <a:rPr lang="en-US" sz="1400" dirty="0" err="1">
                <a:highlight>
                  <a:srgbClr val="FFFF00"/>
                </a:highlight>
              </a:rPr>
              <a:t>growthRateTmp</a:t>
            </a:r>
            <a:r>
              <a:rPr lang="en-US" sz="1400" dirty="0">
                <a:highlight>
                  <a:srgbClr val="FFFF00"/>
                </a:highlight>
              </a:rPr>
              <a:t>;</a:t>
            </a:r>
          </a:p>
          <a:p>
            <a:r>
              <a:rPr lang="en-US" sz="1400" dirty="0">
                <a:highlight>
                  <a:srgbClr val="FFFF00"/>
                </a:highlight>
              </a:rPr>
              <a:t>    }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   //</a:t>
            </a:r>
            <a:r>
              <a:rPr lang="en-US" sz="1400" dirty="0" err="1"/>
              <a:t>boundaryStrategy</a:t>
            </a:r>
            <a:r>
              <a:rPr lang="en-US" sz="1400" dirty="0"/>
              <a:t> has information about pixel neighbors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boundaryStrategy</a:t>
            </a:r>
            <a:r>
              <a:rPr lang="en-US" sz="1400" dirty="0"/>
              <a:t>=</a:t>
            </a:r>
            <a:r>
              <a:rPr lang="en-US" sz="1400" dirty="0" err="1"/>
              <a:t>BoundaryStrategy</a:t>
            </a:r>
            <a:r>
              <a:rPr lang="en-US" sz="1400" dirty="0"/>
              <a:t>::</a:t>
            </a:r>
            <a:r>
              <a:rPr lang="en-US" sz="1400" dirty="0" err="1"/>
              <a:t>getInstance</a:t>
            </a:r>
            <a:r>
              <a:rPr lang="en-US" sz="1400" dirty="0"/>
              <a:t>();</a:t>
            </a:r>
          </a:p>
          <a:p>
            <a:endParaRPr lang="en-US" sz="1400" dirty="0"/>
          </a:p>
          <a:p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9554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25CE86-5991-14F6-EE5A-54D61A636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A150-B1DE-0FE5-793A-42D80FAE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0"/>
            <a:ext cx="8229600" cy="1143000"/>
          </a:xfrm>
        </p:spPr>
        <p:txBody>
          <a:bodyPr/>
          <a:lstStyle/>
          <a:p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Exercise </a:t>
            </a:r>
            <a:r>
              <a:rPr lang="en-US" sz="2800" b="1" dirty="0">
                <a:solidFill>
                  <a:srgbClr val="0000CC"/>
                </a:solidFill>
              </a:rPr>
              <a:t>9.2.4</a:t>
            </a:r>
            <a:r>
              <a:rPr lang="en-US" sz="2800" b="1" dirty="0">
                <a:solidFill>
                  <a:srgbClr val="0000CC"/>
                </a:solidFill>
                <a:cs typeface="Arial" panose="020B0604020202020204" pitchFamily="34" charset="0"/>
              </a:rPr>
              <a:t> — We then modify the step function</a:t>
            </a:r>
            <a:endParaRPr lang="en-US" sz="2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BAA70DD6-CBDD-6D83-7CE6-94C16F78A8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6CEEA03D-D29C-67C8-9605-2D1478478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EC9468AB-0C1D-FCD6-621B-35F6264D8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2CB846E-8552-857F-C695-E0857FA4E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866001"/>
            <a:ext cx="315951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</a:t>
            </a:r>
            <a:r>
              <a:rPr kumimoji="0" lang="en-US" altLang="en-US" sz="9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Steppable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SFMono-Regular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Type="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GrowthSteppable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"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	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</a:t>
            </a:r>
            <a:r>
              <a:rPr kumimoji="0" lang="en-US" altLang="en-US" sz="9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GrowthRate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SFMono-Regular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CellType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="1"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1.3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&lt;/</a:t>
            </a:r>
            <a:r>
              <a:rPr kumimoji="0" lang="en-US" altLang="en-US" sz="9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GrowthRate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	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</a:t>
            </a:r>
            <a:r>
              <a:rPr kumimoji="0" lang="en-US" altLang="en-US" sz="9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GrowthRate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SFMono-Regular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CellType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070A0"/>
                </a:solidFill>
                <a:effectLst/>
                <a:latin typeface="SFMono-Regular"/>
              </a:rPr>
              <a:t>="2"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1.7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&lt;/</a:t>
            </a:r>
            <a:r>
              <a:rPr kumimoji="0" lang="en-US" altLang="en-US" sz="9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GrowthRate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&lt;/</a:t>
            </a:r>
            <a:r>
              <a:rPr kumimoji="0" lang="en-US" altLang="en-US" sz="900" b="1" i="0" u="none" strike="noStrike" cap="none" normalizeH="0" baseline="0" dirty="0" err="1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Steppable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62873"/>
                </a:solidFill>
                <a:effectLst/>
                <a:latin typeface="SFMono-Regular"/>
              </a:rPr>
              <a:t>&gt;</a:t>
            </a:r>
            <a:r>
              <a:rPr kumimoji="0" lang="en-US" altLang="en-US" sz="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38D58-F120-DCFB-A023-0FF3F7B3D74B}"/>
              </a:ext>
            </a:extLst>
          </p:cNvPr>
          <p:cNvSpPr txBox="1"/>
          <p:nvPr/>
        </p:nvSpPr>
        <p:spPr>
          <a:xfrm>
            <a:off x="914400" y="1752600"/>
            <a:ext cx="84582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void </a:t>
            </a:r>
            <a:r>
              <a:rPr lang="en-US" sz="1200" dirty="0" err="1"/>
              <a:t>GrowthSteppable</a:t>
            </a:r>
            <a:r>
              <a:rPr lang="en-US" sz="1200" dirty="0"/>
              <a:t>::step(const unsigned int </a:t>
            </a:r>
            <a:r>
              <a:rPr lang="en-US" sz="1200" dirty="0" err="1"/>
              <a:t>currentStep</a:t>
            </a:r>
            <a:r>
              <a:rPr lang="en-US" sz="1200" dirty="0"/>
              <a:t>){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CellInventory</a:t>
            </a:r>
            <a:r>
              <a:rPr lang="en-US" sz="1200" dirty="0"/>
              <a:t>::</a:t>
            </a:r>
            <a:r>
              <a:rPr lang="en-US" sz="1200" dirty="0" err="1"/>
              <a:t>cellInventoryIterator</a:t>
            </a:r>
            <a:r>
              <a:rPr lang="en-US" sz="1200" dirty="0"/>
              <a:t> </a:t>
            </a:r>
            <a:r>
              <a:rPr lang="en-US" sz="1200" dirty="0" err="1"/>
              <a:t>cInvItr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CellG</a:t>
            </a:r>
            <a:r>
              <a:rPr lang="en-US" sz="1200" dirty="0"/>
              <a:t> * cell=0;</a:t>
            </a:r>
          </a:p>
          <a:p>
            <a:endParaRPr lang="en-US" sz="1200" dirty="0"/>
          </a:p>
          <a:p>
            <a:r>
              <a:rPr lang="en-US" sz="1200" dirty="0"/>
              <a:t>   if (</a:t>
            </a:r>
            <a:r>
              <a:rPr lang="en-US" sz="1200" dirty="0" err="1"/>
              <a:t>currentStep</a:t>
            </a:r>
            <a:r>
              <a:rPr lang="en-US" sz="1200" dirty="0"/>
              <a:t> &gt; 100)</a:t>
            </a:r>
          </a:p>
          <a:p>
            <a:r>
              <a:rPr lang="en-US" sz="1200" dirty="0"/>
              <a:t>       return;</a:t>
            </a:r>
          </a:p>
          <a:p>
            <a:endParaRPr lang="en-US" sz="1200" dirty="0"/>
          </a:p>
          <a:p>
            <a:r>
              <a:rPr lang="en-US" sz="1200" dirty="0">
                <a:highlight>
                  <a:srgbClr val="FFFF00"/>
                </a:highlight>
              </a:rPr>
              <a:t>    std::map&lt;unsigned int, double&gt;::iterator </a:t>
            </a:r>
            <a:r>
              <a:rPr lang="en-US" sz="1200" dirty="0" err="1">
                <a:highlight>
                  <a:srgbClr val="FFFF00"/>
                </a:highlight>
              </a:rPr>
              <a:t>mitr</a:t>
            </a:r>
            <a:r>
              <a:rPr lang="en-US" sz="1200" dirty="0">
                <a:highlight>
                  <a:srgbClr val="FFFF00"/>
                </a:highlight>
              </a:rPr>
              <a:t>;</a:t>
            </a:r>
          </a:p>
          <a:p>
            <a:endParaRPr lang="en-US" sz="1200" dirty="0"/>
          </a:p>
          <a:p>
            <a:r>
              <a:rPr lang="en-US" sz="1200" dirty="0"/>
              <a:t>    for(</a:t>
            </a:r>
            <a:r>
              <a:rPr lang="en-US" sz="1200" dirty="0" err="1"/>
              <a:t>cInvItr</a:t>
            </a:r>
            <a:r>
              <a:rPr lang="en-US" sz="1200" dirty="0"/>
              <a:t>=</a:t>
            </a:r>
            <a:r>
              <a:rPr lang="en-US" sz="1200" dirty="0" err="1"/>
              <a:t>cellInventoryPtr</a:t>
            </a:r>
            <a:r>
              <a:rPr lang="en-US" sz="1200" dirty="0"/>
              <a:t>-&gt;</a:t>
            </a:r>
            <a:r>
              <a:rPr lang="en-US" sz="1200" dirty="0" err="1"/>
              <a:t>cellInventoryBegin</a:t>
            </a:r>
            <a:r>
              <a:rPr lang="en-US" sz="1200" dirty="0"/>
              <a:t>() ; </a:t>
            </a:r>
            <a:r>
              <a:rPr lang="en-US" sz="1200" dirty="0" err="1"/>
              <a:t>cInvItr</a:t>
            </a:r>
            <a:r>
              <a:rPr lang="en-US" sz="1200" dirty="0"/>
              <a:t> !=</a:t>
            </a:r>
            <a:r>
              <a:rPr lang="en-US" sz="1200" dirty="0" err="1"/>
              <a:t>cellInventoryPtr</a:t>
            </a:r>
            <a:r>
              <a:rPr lang="en-US" sz="1200" dirty="0"/>
              <a:t>-&gt;</a:t>
            </a:r>
            <a:r>
              <a:rPr lang="en-US" sz="1200" dirty="0" err="1"/>
              <a:t>cellInventoryEnd</a:t>
            </a:r>
            <a:r>
              <a:rPr lang="en-US" sz="1200" dirty="0"/>
              <a:t>() ;++</a:t>
            </a:r>
            <a:r>
              <a:rPr lang="en-US" sz="1200" dirty="0" err="1"/>
              <a:t>cInvItr</a:t>
            </a:r>
            <a:r>
              <a:rPr lang="en-US" sz="1200" dirty="0"/>
              <a:t> )</a:t>
            </a:r>
          </a:p>
          <a:p>
            <a:r>
              <a:rPr lang="en-US" sz="1200" dirty="0"/>
              <a:t>    {</a:t>
            </a:r>
          </a:p>
          <a:p>
            <a:endParaRPr lang="en-US" sz="1200" dirty="0"/>
          </a:p>
          <a:p>
            <a:r>
              <a:rPr lang="en-US" sz="1200" dirty="0"/>
              <a:t>        cell=</a:t>
            </a:r>
            <a:r>
              <a:rPr lang="en-US" sz="1200" dirty="0" err="1"/>
              <a:t>cellInventoryPtr</a:t>
            </a:r>
            <a:r>
              <a:rPr lang="en-US" sz="1200" dirty="0"/>
              <a:t>-&gt;</a:t>
            </a:r>
            <a:r>
              <a:rPr lang="en-US" sz="1200" dirty="0" err="1"/>
              <a:t>getCell</a:t>
            </a:r>
            <a:r>
              <a:rPr lang="en-US" sz="1200" dirty="0"/>
              <a:t>(</a:t>
            </a:r>
            <a:r>
              <a:rPr lang="en-US" sz="1200" dirty="0" err="1"/>
              <a:t>cInvItr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        </a:t>
            </a:r>
            <a:r>
              <a:rPr lang="en-US" sz="1200" dirty="0" err="1"/>
              <a:t>mitr</a:t>
            </a:r>
            <a:r>
              <a:rPr lang="en-US" sz="1200" dirty="0"/>
              <a:t> = this-&gt;</a:t>
            </a:r>
            <a:r>
              <a:rPr lang="en-US" sz="1200" dirty="0" err="1"/>
              <a:t>growthRateMap.find</a:t>
            </a:r>
            <a:r>
              <a:rPr lang="en-US" sz="1200" dirty="0"/>
              <a:t>((</a:t>
            </a:r>
            <a:r>
              <a:rPr lang="en-US" sz="1200" dirty="0">
                <a:highlight>
                  <a:srgbClr val="FFFF00"/>
                </a:highlight>
              </a:rPr>
              <a:t>unsigned int</a:t>
            </a:r>
            <a:r>
              <a:rPr lang="en-US" sz="1200" dirty="0"/>
              <a:t>)cell-&gt;type);</a:t>
            </a:r>
          </a:p>
          <a:p>
            <a:endParaRPr lang="en-US" sz="1200" dirty="0"/>
          </a:p>
          <a:p>
            <a:r>
              <a:rPr lang="en-US" sz="1200" dirty="0"/>
              <a:t>        if (</a:t>
            </a:r>
            <a:r>
              <a:rPr lang="en-US" sz="1200" dirty="0" err="1"/>
              <a:t>mitr</a:t>
            </a:r>
            <a:r>
              <a:rPr lang="en-US" sz="1200" dirty="0"/>
              <a:t> != this-&gt;</a:t>
            </a:r>
            <a:r>
              <a:rPr lang="en-US" sz="1200" dirty="0" err="1"/>
              <a:t>growthRateMap.end</a:t>
            </a:r>
            <a:r>
              <a:rPr lang="en-US" sz="1200" dirty="0"/>
              <a:t>()){</a:t>
            </a:r>
          </a:p>
          <a:p>
            <a:r>
              <a:rPr lang="en-US" sz="1200" dirty="0"/>
              <a:t>            cell-&gt;</a:t>
            </a:r>
            <a:r>
              <a:rPr lang="en-US" sz="1200" dirty="0" err="1"/>
              <a:t>targetVolume</a:t>
            </a:r>
            <a:r>
              <a:rPr lang="en-US" sz="1200" dirty="0"/>
              <a:t> += </a:t>
            </a:r>
            <a:r>
              <a:rPr lang="en-US" sz="1200" dirty="0" err="1"/>
              <a:t>mitr</a:t>
            </a:r>
            <a:r>
              <a:rPr lang="en-US" sz="1200" dirty="0"/>
              <a:t>-&gt;second;</a:t>
            </a:r>
          </a:p>
          <a:p>
            <a:r>
              <a:rPr lang="en-US" sz="1200" dirty="0"/>
              <a:t>        }</a:t>
            </a:r>
          </a:p>
          <a:p>
            <a:endParaRPr lang="en-US" sz="1200" dirty="0"/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3493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F73B-8AD7-8F4D-17A7-619FF4EA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79FEFF-263A-30B4-846F-A3C9B396E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191000"/>
            <a:ext cx="4559534" cy="8763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4A86F5-4C58-860B-A5D1-0429BDF0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74638"/>
            <a:ext cx="9067800" cy="1143000"/>
          </a:xfrm>
        </p:spPr>
        <p:txBody>
          <a:bodyPr/>
          <a:lstStyle/>
          <a:p>
            <a:b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CC"/>
                </a:solidFill>
                <a:cs typeface="Arial" panose="020B0604020202020204" pitchFamily="34" charset="0"/>
              </a:rPr>
              <a:t>Exercise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00CC"/>
                </a:solidFill>
              </a:rPr>
              <a:t>9.2.4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Applying an </a:t>
            </a:r>
            <a:r>
              <a:rPr lang="en-US" sz="3200" b="1" noProof="0" dirty="0">
                <a:solidFill>
                  <a:srgbClr val="0000CC"/>
                </a:solidFill>
              </a:rPr>
              <a:t>Energy Modification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CF9B96-AF35-C216-0B7F-0ED6ABE493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92275"/>
                <a:ext cx="8229600" cy="452754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The energy function plug ins work by giving a hook to modify the cell pixel copy attempt probabilities.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−∆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𝑘𝑇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Where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/>
                  <a:t> by default</a:t>
                </a:r>
              </a:p>
              <a:p>
                <a:pPr marL="0" indent="0">
                  <a:buNone/>
                </a:pPr>
                <a:r>
                  <a:rPr lang="en-US" sz="1800" dirty="0"/>
                  <a:t>We modify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1800" dirty="0"/>
                  <a:t> such that we add a defined energy 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1800" dirty="0"/>
                  <a:t> itself. </a:t>
                </a:r>
                <a:r>
                  <a:rPr lang="en-US" sz="1800" i="1" dirty="0"/>
                  <a:t>This is how all energy plugins function.</a:t>
                </a:r>
              </a:p>
              <a:p>
                <a:pPr marL="0" indent="0">
                  <a:buNone/>
                </a:pPr>
                <a:endParaRPr lang="en-US" sz="1800" i="1" dirty="0"/>
              </a:p>
              <a:p>
                <a:pPr marL="0" indent="0">
                  <a:buNone/>
                </a:pPr>
                <a:r>
                  <a:rPr lang="en-US" sz="1800" i="1" dirty="0"/>
                  <a:t>Recall we wish to add: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CF9B96-AF35-C216-0B7F-0ED6ABE493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92275"/>
                <a:ext cx="8229600" cy="4527549"/>
              </a:xfrm>
              <a:blipFill>
                <a:blip r:embed="rId3"/>
                <a:stretch>
                  <a:fillRect l="-593" t="-809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ED39F2D4-4711-6B36-3CF1-3C5E30CE49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16FEFE50-69A5-3E63-01BB-834EB83A5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8A0F766D-BE38-5059-E26B-CB995595A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7655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D81B-BC00-0677-06BC-8238B35E7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0C6BE-5DDD-BAF0-1213-2462EB75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74638"/>
            <a:ext cx="9067800" cy="1143000"/>
          </a:xfrm>
        </p:spPr>
        <p:txBody>
          <a:bodyPr/>
          <a:lstStyle/>
          <a:p>
            <a:b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CC"/>
                </a:solidFill>
                <a:cs typeface="Arial" panose="020B0604020202020204" pitchFamily="34" charset="0"/>
              </a:rPr>
              <a:t>Exercise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00CC"/>
                </a:solidFill>
              </a:rPr>
              <a:t>9.2.5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Applying our changes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B84203-4CDB-739D-3566-E9D7BF305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92275"/>
                <a:ext cx="8229600" cy="452754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/>
                  <a:t>When creating the Plugin, the focus should be on </a:t>
                </a:r>
                <a:r>
                  <a:rPr lang="en-US" sz="1800" dirty="0" err="1"/>
                  <a:t>changeEnergy</a:t>
                </a:r>
                <a:r>
                  <a:rPr lang="en-US" sz="1800" dirty="0"/>
                  <a:t> and field3DChange</a:t>
                </a:r>
              </a:p>
              <a:p>
                <a:pPr marL="0" indent="0">
                  <a:buNone/>
                </a:pPr>
                <a:r>
                  <a:rPr lang="en-US" sz="1800" b="1" dirty="0" err="1"/>
                  <a:t>changeEnergy</a:t>
                </a:r>
                <a:r>
                  <a:rPr lang="en-US" sz="1800" b="1" dirty="0"/>
                  <a:t> </a:t>
                </a:r>
                <a:r>
                  <a:rPr lang="en-US" sz="1800" dirty="0"/>
                  <a:t>will look at the current and the target pixel locations, matching to previously used terminology</a:t>
                </a:r>
              </a:p>
              <a:p>
                <a:pPr marL="0" indent="0">
                  <a:buNone/>
                </a:pPr>
                <a:r>
                  <a:rPr lang="en-US" sz="1800" dirty="0"/>
                  <a:t>	</a:t>
                </a:r>
                <a:r>
                  <a:rPr lang="en-US" sz="1800" b="1" dirty="0" err="1"/>
                  <a:t>newCell</a:t>
                </a:r>
                <a:r>
                  <a:rPr lang="en-US" sz="1800" dirty="0"/>
                  <a:t> is the source pixel type (the pixel getting copied)</a:t>
                </a:r>
              </a:p>
              <a:p>
                <a:pPr marL="0" indent="0">
                  <a:buNone/>
                </a:pPr>
                <a:r>
                  <a:rPr lang="en-US" sz="1800" dirty="0"/>
                  <a:t>	</a:t>
                </a:r>
                <a:r>
                  <a:rPr lang="en-US" sz="1800" b="1" dirty="0" err="1"/>
                  <a:t>oldCell</a:t>
                </a:r>
                <a:r>
                  <a:rPr lang="en-US" sz="1800" dirty="0"/>
                  <a:t> is the target pixel (the pixel being copied over)</a:t>
                </a:r>
              </a:p>
              <a:p>
                <a:pPr marL="0" indent="0">
                  <a:buNone/>
                </a:pPr>
                <a:r>
                  <a:rPr lang="en-US" sz="1800" dirty="0"/>
                  <a:t>These two contributions can then be used to calculate the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1800" dirty="0"/>
                  <a:t> contribution of the plug in, which is then added to the end of the energy functional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field3DChange </a:t>
                </a:r>
                <a:r>
                  <a:rPr lang="en-US" sz="1800" dirty="0"/>
                  <a:t>will evaluate after a successful flip attempt to perform operations</a:t>
                </a:r>
                <a:endParaRPr lang="en-US" sz="18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B84203-4CDB-739D-3566-E9D7BF305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92275"/>
                <a:ext cx="8229600" cy="4527549"/>
              </a:xfrm>
              <a:blipFill>
                <a:blip r:embed="rId2"/>
                <a:stretch>
                  <a:fillRect l="-593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1EF9351D-0F94-22A5-F2D2-2B15036775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F44A173A-1785-5825-BBDD-5EC252730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1B456D67-D3B2-158C-0184-48D6801AE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395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88F5-CDAD-D492-A4FB-F0B2158F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5D10-AC5E-1794-D1B3-00591746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74638"/>
            <a:ext cx="9067800" cy="1143000"/>
          </a:xfrm>
        </p:spPr>
        <p:txBody>
          <a:bodyPr/>
          <a:lstStyle/>
          <a:p>
            <a:b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CC"/>
                </a:solidFill>
                <a:cs typeface="Arial" panose="020B0604020202020204" pitchFamily="34" charset="0"/>
              </a:rPr>
              <a:t>Exercise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00CC"/>
                </a:solidFill>
              </a:rPr>
              <a:t>9.2.5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initialization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6589D-77F0-B0D7-041B-79EB24AFE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2275"/>
            <a:ext cx="8229600" cy="822325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We need to know how many sites are occupied at initialization</a:t>
            </a:r>
          </a:p>
          <a:p>
            <a:pPr marL="0" indent="0">
              <a:buNone/>
            </a:pPr>
            <a:r>
              <a:rPr lang="en-US" sz="1800" b="1" dirty="0"/>
              <a:t>How?</a:t>
            </a:r>
            <a:endParaRPr lang="en-US" sz="1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8CCF656A-42BF-3357-3980-9ACCF83DBFC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B4959632-DD2C-D024-C87D-D0D3DC796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201E5CDC-83B4-1651-76E4-18DFA1D28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939747-B898-9497-7982-085163228E3A}"/>
              </a:ext>
            </a:extLst>
          </p:cNvPr>
          <p:cNvSpPr txBox="1">
            <a:spLocks/>
          </p:cNvSpPr>
          <p:nvPr/>
        </p:nvSpPr>
        <p:spPr bwMode="auto">
          <a:xfrm>
            <a:off x="495300" y="2789237"/>
            <a:ext cx="8229600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 dirty="0"/>
              <a:t>We need to update or decrease the cell object’s count depending on if the local pixel is an adhesion spot or not</a:t>
            </a:r>
          </a:p>
          <a:p>
            <a:pPr marL="0" indent="0">
              <a:buFontTx/>
              <a:buNone/>
            </a:pPr>
            <a:endParaRPr lang="en-US" sz="1800" kern="0" dirty="0"/>
          </a:p>
          <a:p>
            <a:pPr marL="0" indent="0">
              <a:buFontTx/>
              <a:buNone/>
            </a:pPr>
            <a:r>
              <a:rPr lang="en-US" sz="1800" b="1" i="1" kern="0" dirty="0" err="1"/>
              <a:t>Sudocode</a:t>
            </a:r>
            <a:r>
              <a:rPr lang="en-US" sz="1800" b="1" i="1" kern="0" dirty="0"/>
              <a:t>:</a:t>
            </a:r>
          </a:p>
          <a:p>
            <a:pPr marL="0" indent="0">
              <a:buFontTx/>
              <a:buNone/>
            </a:pPr>
            <a:r>
              <a:rPr lang="en-US" sz="1800" kern="0" dirty="0"/>
              <a:t>If Adhesion(pt)&gt;0.5:</a:t>
            </a:r>
          </a:p>
          <a:p>
            <a:pPr marL="0" indent="0">
              <a:buFontTx/>
              <a:buNone/>
            </a:pPr>
            <a:r>
              <a:rPr lang="en-US" sz="1800" kern="0" dirty="0"/>
              <a:t>	cell at this pt add one </a:t>
            </a:r>
            <a:r>
              <a:rPr lang="en-US" sz="1800" kern="0" dirty="0" err="1"/>
              <a:t>occupiedAdhesiveSites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29820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C9F07-9FE0-7A60-7FF3-C8240C3FC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2B74-72DE-172B-0CF5-E577DDC2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74638"/>
            <a:ext cx="9067800" cy="1143000"/>
          </a:xfrm>
        </p:spPr>
        <p:txBody>
          <a:bodyPr/>
          <a:lstStyle/>
          <a:p>
            <a:b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CC"/>
                </a:solidFill>
                <a:cs typeface="Arial" panose="020B0604020202020204" pitchFamily="34" charset="0"/>
              </a:rPr>
              <a:t>Exercise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00CC"/>
                </a:solidFill>
              </a:rPr>
              <a:t>9.2.5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field3DChange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A9BFC-FD05-8114-0731-5CD3D0C4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2275"/>
            <a:ext cx="8229600" cy="822325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field3DChange </a:t>
            </a:r>
            <a:r>
              <a:rPr lang="en-US" sz="1800" dirty="0"/>
              <a:t>evaluates after a successful flip attempts</a:t>
            </a:r>
            <a:r>
              <a:rPr lang="en-US" sz="1800" b="1" dirty="0"/>
              <a:t>:</a:t>
            </a:r>
          </a:p>
          <a:p>
            <a:pPr marL="0" indent="0">
              <a:buNone/>
            </a:pPr>
            <a:r>
              <a:rPr lang="en-US" sz="1800" b="1" dirty="0"/>
              <a:t>We need to track the number of occupied spots; how can we do this?</a:t>
            </a:r>
            <a:endParaRPr lang="en-US" sz="1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7CBE36F7-B94D-1E16-8C2A-356B500E28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81E91E5D-8500-0A2E-3537-3DA90B9E3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1492E00E-635C-DF0B-AA0F-D452FA0D2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F2EBC2-243A-59A0-F4F0-B2C496EAD5AF}"/>
              </a:ext>
            </a:extLst>
          </p:cNvPr>
          <p:cNvSpPr txBox="1">
            <a:spLocks/>
          </p:cNvSpPr>
          <p:nvPr/>
        </p:nvSpPr>
        <p:spPr bwMode="auto">
          <a:xfrm>
            <a:off x="495300" y="2789237"/>
            <a:ext cx="8229600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 dirty="0"/>
              <a:t>We need to update or decrease the cell object’s count depending on if the local pixel is an adhesion spot and if a cell is entering or leaving the space</a:t>
            </a:r>
          </a:p>
          <a:p>
            <a:pPr marL="0" indent="0">
              <a:buFontTx/>
              <a:buNone/>
            </a:pPr>
            <a:endParaRPr lang="en-US" sz="1800" kern="0" dirty="0"/>
          </a:p>
          <a:p>
            <a:pPr marL="0" indent="0">
              <a:buFontTx/>
              <a:buNone/>
            </a:pPr>
            <a:r>
              <a:rPr lang="en-US" sz="1800" b="1" i="1" kern="0" dirty="0" err="1"/>
              <a:t>Sudocode</a:t>
            </a:r>
            <a:r>
              <a:rPr lang="en-US" sz="1800" b="1" i="1" kern="0" dirty="0"/>
              <a:t>:</a:t>
            </a:r>
          </a:p>
          <a:p>
            <a:pPr marL="0" indent="0">
              <a:buFontTx/>
              <a:buNone/>
            </a:pPr>
            <a:r>
              <a:rPr lang="en-US" sz="1800" kern="0" dirty="0"/>
              <a:t>If Adhesion(pt)&gt;0.5:</a:t>
            </a:r>
          </a:p>
          <a:p>
            <a:pPr marL="0" indent="0">
              <a:buFontTx/>
              <a:buNone/>
            </a:pPr>
            <a:r>
              <a:rPr lang="en-US" sz="1800" kern="0" dirty="0"/>
              <a:t>	if (</a:t>
            </a:r>
            <a:r>
              <a:rPr lang="en-US" sz="1800" kern="0" dirty="0" err="1"/>
              <a:t>newCell</a:t>
            </a:r>
            <a:r>
              <a:rPr lang="en-US" sz="1800" kern="0" dirty="0"/>
              <a:t>){</a:t>
            </a:r>
          </a:p>
          <a:p>
            <a:pPr marL="0" indent="0">
              <a:buFontTx/>
              <a:buNone/>
            </a:pPr>
            <a:r>
              <a:rPr lang="en-US" sz="1800" kern="0" dirty="0"/>
              <a:t>        		add </a:t>
            </a:r>
            <a:r>
              <a:rPr lang="en-US" sz="1800" kern="0" dirty="0" err="1"/>
              <a:t>occupiedAdhesiveSites</a:t>
            </a:r>
            <a:r>
              <a:rPr lang="en-US" sz="1800" kern="0" dirty="0"/>
              <a:t> to </a:t>
            </a:r>
            <a:r>
              <a:rPr lang="en-US" sz="1800" kern="0" dirty="0" err="1"/>
              <a:t>newCell</a:t>
            </a:r>
            <a:r>
              <a:rPr lang="en-US" sz="1800" kern="0" dirty="0"/>
              <a:t>;</a:t>
            </a:r>
          </a:p>
          <a:p>
            <a:pPr marL="0" indent="0">
              <a:buFontTx/>
              <a:buNone/>
            </a:pPr>
            <a:r>
              <a:rPr lang="en-US" sz="1800" kern="0" dirty="0"/>
              <a:t>    	}</a:t>
            </a:r>
          </a:p>
          <a:p>
            <a:pPr marL="0" indent="0">
              <a:buFontTx/>
              <a:buNone/>
            </a:pPr>
            <a:r>
              <a:rPr lang="en-US" sz="1800" kern="0" dirty="0"/>
              <a:t>    	if (</a:t>
            </a:r>
            <a:r>
              <a:rPr lang="en-US" sz="1800" kern="0" dirty="0" err="1"/>
              <a:t>oldCell</a:t>
            </a:r>
            <a:r>
              <a:rPr lang="en-US" sz="1800" kern="0" dirty="0"/>
              <a:t>){</a:t>
            </a:r>
          </a:p>
          <a:p>
            <a:pPr marL="0" indent="0">
              <a:buFontTx/>
              <a:buNone/>
            </a:pPr>
            <a:r>
              <a:rPr lang="en-US" sz="1800" kern="0" dirty="0"/>
              <a:t>       		subtract </a:t>
            </a:r>
            <a:r>
              <a:rPr lang="en-US" sz="1800" kern="0" dirty="0" err="1"/>
              <a:t>occupiedAdhesiveSites</a:t>
            </a:r>
            <a:r>
              <a:rPr lang="en-US" sz="1800" kern="0" dirty="0"/>
              <a:t> from </a:t>
            </a:r>
            <a:r>
              <a:rPr lang="en-US" sz="1800" kern="0" dirty="0" err="1"/>
              <a:t>oldCell</a:t>
            </a:r>
            <a:r>
              <a:rPr lang="en-US" sz="1800" kern="0" dirty="0"/>
              <a:t>;</a:t>
            </a:r>
          </a:p>
          <a:p>
            <a:pPr marL="0" indent="0">
              <a:buFontTx/>
              <a:buNone/>
            </a:pPr>
            <a:r>
              <a:rPr lang="en-US" sz="1800" kern="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423920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5F58-14E7-08FC-3AD4-AC5216D0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ED31-FC88-531D-974E-510750D90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74638"/>
            <a:ext cx="9067800" cy="1143000"/>
          </a:xfrm>
        </p:spPr>
        <p:txBody>
          <a:bodyPr/>
          <a:lstStyle/>
          <a:p>
            <a:b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CC"/>
                </a:solidFill>
                <a:cs typeface="Arial" panose="020B0604020202020204" pitchFamily="34" charset="0"/>
              </a:rPr>
              <a:t>Exercise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00CC"/>
                </a:solidFill>
              </a:rPr>
              <a:t>9.2.5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changeEnergy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B161F-AD76-23FF-77C6-66114012D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2275"/>
            <a:ext cx="8229600" cy="822325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err="1"/>
              <a:t>changeEnergy</a:t>
            </a:r>
            <a:r>
              <a:rPr lang="en-US" sz="1800" b="1" dirty="0"/>
              <a:t> </a:t>
            </a:r>
            <a:r>
              <a:rPr lang="en-US" sz="1800" dirty="0"/>
              <a:t>specifies how the Hamiltonian is modified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We need to know the current number of occupied spots then figure out how the flip will modify this value; how can we do this?</a:t>
            </a:r>
            <a:endParaRPr lang="en-US" sz="1800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436C82DE-8CFC-8941-E56E-D708C1AF4AD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D20E5D6E-AE1E-73E0-AB7F-E77A84ED7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80A4D161-6F92-B8E6-935A-78B457310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DE64D4-E1E1-64E7-2512-2CF780B9461F}"/>
              </a:ext>
            </a:extLst>
          </p:cNvPr>
          <p:cNvSpPr txBox="1">
            <a:spLocks/>
          </p:cNvSpPr>
          <p:nvPr/>
        </p:nvSpPr>
        <p:spPr bwMode="auto">
          <a:xfrm>
            <a:off x="495300" y="2798003"/>
            <a:ext cx="8229600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sz="1800" kern="0" dirty="0"/>
              <a:t>We need to calculate changes of energy dependent on the loss or gain of a site</a:t>
            </a:r>
          </a:p>
          <a:p>
            <a:pPr marL="0" indent="0">
              <a:buFontTx/>
              <a:buNone/>
            </a:pPr>
            <a:r>
              <a:rPr lang="en-US" sz="1800" b="1" i="1" kern="0" dirty="0" err="1"/>
              <a:t>Sudocode</a:t>
            </a:r>
            <a:r>
              <a:rPr lang="en-US" sz="1800" b="1" i="1" kern="0" dirty="0"/>
              <a:t>:</a:t>
            </a:r>
          </a:p>
          <a:p>
            <a:pPr marL="0" indent="0">
              <a:buFontTx/>
              <a:buNone/>
            </a:pPr>
            <a:r>
              <a:rPr lang="en-US" sz="1800" kern="0" dirty="0"/>
              <a:t>If Adhesion(pt)&gt;0.5:</a:t>
            </a:r>
          </a:p>
          <a:p>
            <a:pPr marL="0" indent="0">
              <a:buFontTx/>
              <a:buNone/>
            </a:pPr>
            <a:r>
              <a:rPr lang="en-US" sz="1800" kern="0" dirty="0"/>
              <a:t>	if (</a:t>
            </a:r>
            <a:r>
              <a:rPr lang="en-US" sz="1800" kern="0" dirty="0" err="1"/>
              <a:t>newCell</a:t>
            </a:r>
            <a:r>
              <a:rPr lang="en-US" sz="1800" kern="0" dirty="0"/>
              <a:t>){</a:t>
            </a:r>
          </a:p>
          <a:p>
            <a:pPr marL="0" indent="0">
              <a:buFontTx/>
              <a:buNone/>
            </a:pPr>
            <a:r>
              <a:rPr lang="en-US" sz="1800" kern="0" dirty="0"/>
              <a:t>        		new = old + 1</a:t>
            </a:r>
          </a:p>
          <a:p>
            <a:pPr marL="0" indent="0">
              <a:buFontTx/>
              <a:buNone/>
            </a:pPr>
            <a:r>
              <a:rPr lang="en-US" sz="1800" kern="0" dirty="0"/>
              <a:t>		</a:t>
            </a:r>
            <a:r>
              <a:rPr lang="en-US" sz="1800" kern="0" dirty="0" err="1"/>
              <a:t>deltaH</a:t>
            </a:r>
            <a:r>
              <a:rPr lang="en-US" sz="1800" kern="0" dirty="0"/>
              <a:t>= -(E0*new/(A0+ new)- E0*old/(A0+ old))</a:t>
            </a:r>
          </a:p>
          <a:p>
            <a:pPr marL="0" indent="0">
              <a:buFontTx/>
              <a:buNone/>
            </a:pPr>
            <a:r>
              <a:rPr lang="en-US" sz="1800" kern="0" dirty="0"/>
              <a:t>    	}</a:t>
            </a:r>
          </a:p>
          <a:p>
            <a:pPr marL="0" indent="0">
              <a:buFontTx/>
              <a:buNone/>
            </a:pPr>
            <a:r>
              <a:rPr lang="en-US" sz="1800" kern="0" dirty="0"/>
              <a:t>    	if (</a:t>
            </a:r>
            <a:r>
              <a:rPr lang="en-US" sz="1800" kern="0" dirty="0" err="1"/>
              <a:t>oldCell</a:t>
            </a:r>
            <a:r>
              <a:rPr lang="en-US" sz="1800" kern="0" dirty="0"/>
              <a:t>){</a:t>
            </a:r>
          </a:p>
          <a:p>
            <a:pPr marL="0" indent="0">
              <a:buFontTx/>
              <a:buNone/>
            </a:pPr>
            <a:r>
              <a:rPr lang="en-US" sz="1800" kern="0" dirty="0"/>
              <a:t>       		new = old – 1</a:t>
            </a:r>
          </a:p>
          <a:p>
            <a:pPr marL="0" indent="0">
              <a:buFontTx/>
              <a:buNone/>
            </a:pPr>
            <a:r>
              <a:rPr lang="en-US" sz="1800" kern="0" dirty="0"/>
              <a:t>		 </a:t>
            </a:r>
            <a:r>
              <a:rPr lang="en-US" sz="1800" kern="0" dirty="0" err="1"/>
              <a:t>deltaH</a:t>
            </a:r>
            <a:r>
              <a:rPr lang="en-US" sz="1800" kern="0" dirty="0"/>
              <a:t>= -(E0*new/(A0+ new)- E0*old/(A0+ old))</a:t>
            </a:r>
          </a:p>
          <a:p>
            <a:pPr marL="0" indent="0">
              <a:buFontTx/>
              <a:buNone/>
            </a:pPr>
            <a:r>
              <a:rPr lang="en-US" sz="1800" kern="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225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4B59-F567-0B3D-9EB5-B9C9C725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A6A51-5ED7-C7F2-209A-8988B93A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71500"/>
            <a:ext cx="9067800" cy="1143000"/>
          </a:xfrm>
        </p:spPr>
        <p:txBody>
          <a:bodyPr/>
          <a:lstStyle/>
          <a:p>
            <a:b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CC"/>
                </a:solidFill>
                <a:cs typeface="Arial" panose="020B0604020202020204" pitchFamily="34" charset="0"/>
              </a:rPr>
              <a:t>Exercise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00CC"/>
                </a:solidFill>
              </a:rPr>
              <a:t>9.2.5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CODE!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19F52-CA13-C80B-D383-5DA5A3575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81000"/>
            <a:ext cx="8986205" cy="569277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Let’s define our energy term to evaluate</a:t>
            </a:r>
          </a:p>
          <a:p>
            <a:pPr marL="0" indent="0">
              <a:buNone/>
            </a:pPr>
            <a:r>
              <a:rPr lang="en-US" sz="1600" b="1" dirty="0"/>
              <a:t>In .h file </a:t>
            </a:r>
          </a:p>
          <a:p>
            <a:pPr marL="0" indent="0">
              <a:buNone/>
            </a:pPr>
            <a:r>
              <a:rPr lang="en-US" sz="1600" dirty="0"/>
              <a:t>	private:	</a:t>
            </a:r>
          </a:p>
          <a:p>
            <a:pPr marL="0" indent="0">
              <a:buNone/>
            </a:pPr>
            <a:r>
              <a:rPr lang="en-US" sz="1600" dirty="0"/>
              <a:t>		Field3D&lt;unsigned char&gt;* </a:t>
            </a:r>
            <a:r>
              <a:rPr lang="en-US" sz="1600" dirty="0" err="1"/>
              <a:t>adhesionField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     		std::string </a:t>
            </a:r>
            <a:r>
              <a:rPr lang="en-US" sz="1600" dirty="0" err="1"/>
              <a:t>adhesionFieldName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		</a:t>
            </a:r>
            <a:r>
              <a:rPr lang="en-US" sz="1600" dirty="0" err="1"/>
              <a:t>ExtraMembersGroupAccessor</a:t>
            </a:r>
            <a:r>
              <a:rPr lang="en-US" sz="1600" dirty="0"/>
              <a:t>&lt;</a:t>
            </a:r>
            <a:r>
              <a:rPr lang="en-US" sz="1600" dirty="0" err="1"/>
              <a:t>AdhesiveSatData</a:t>
            </a:r>
            <a:r>
              <a:rPr lang="en-US" sz="1600" dirty="0"/>
              <a:t>&gt;</a:t>
            </a:r>
          </a:p>
          <a:p>
            <a:pPr marL="0" indent="0">
              <a:buNone/>
            </a:pPr>
            <a:r>
              <a:rPr lang="en-US" sz="1600" dirty="0"/>
              <a:t>            		</a:t>
            </a:r>
            <a:r>
              <a:rPr lang="en-US" sz="1600" dirty="0" err="1"/>
              <a:t>adhesiveSatDataAccessor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		double E0;</a:t>
            </a:r>
          </a:p>
          <a:p>
            <a:pPr marL="0" indent="0">
              <a:buNone/>
            </a:pPr>
            <a:r>
              <a:rPr lang="en-US" sz="1600" dirty="0"/>
              <a:t>        		double Aref;</a:t>
            </a:r>
          </a:p>
          <a:p>
            <a:pPr marL="0" indent="0">
              <a:buNone/>
            </a:pPr>
            <a:r>
              <a:rPr lang="en-US" sz="1600" dirty="0"/>
              <a:t>		int </a:t>
            </a:r>
            <a:r>
              <a:rPr lang="en-US" sz="1600" dirty="0" err="1"/>
              <a:t>getOccupiedSiteCount</a:t>
            </a:r>
            <a:r>
              <a:rPr lang="en-US" sz="1600" dirty="0"/>
              <a:t>(const </a:t>
            </a:r>
            <a:r>
              <a:rPr lang="en-US" sz="1600" dirty="0" err="1"/>
              <a:t>CellG</a:t>
            </a:r>
            <a:r>
              <a:rPr lang="en-US" sz="1600" dirty="0"/>
              <a:t>* cell);</a:t>
            </a:r>
          </a:p>
          <a:p>
            <a:pPr marL="0" indent="0">
              <a:buNone/>
            </a:pPr>
            <a:r>
              <a:rPr lang="en-US" sz="1600" dirty="0"/>
              <a:t>		double </a:t>
            </a:r>
            <a:r>
              <a:rPr lang="en-US" sz="1600" dirty="0" err="1"/>
              <a:t>adhesionEnergy</a:t>
            </a:r>
            <a:r>
              <a:rPr lang="en-US" sz="1600" dirty="0"/>
              <a:t>(double </a:t>
            </a:r>
            <a:r>
              <a:rPr lang="en-US" sz="1600" dirty="0" err="1"/>
              <a:t>occupiedArea</a:t>
            </a:r>
            <a:r>
              <a:rPr lang="en-US" sz="1600" dirty="0"/>
              <a:t>) const;</a:t>
            </a:r>
          </a:p>
          <a:p>
            <a:pPr marL="0" indent="0">
              <a:buNone/>
            </a:pPr>
            <a:r>
              <a:rPr lang="en-US" sz="1600" b="1" dirty="0"/>
              <a:t>In .</a:t>
            </a:r>
            <a:r>
              <a:rPr lang="en-US" sz="1600" b="1" dirty="0" err="1"/>
              <a:t>cpp</a:t>
            </a:r>
            <a:r>
              <a:rPr lang="en-US" sz="1600" b="1" dirty="0"/>
              <a:t> file</a:t>
            </a:r>
          </a:p>
          <a:p>
            <a:pPr marL="0" indent="0">
              <a:buNone/>
            </a:pPr>
            <a:r>
              <a:rPr lang="en-US" sz="1600" dirty="0"/>
              <a:t>double </a:t>
            </a:r>
            <a:r>
              <a:rPr lang="en-US" sz="1600" dirty="0" err="1"/>
              <a:t>AdhesiveSatPlugin</a:t>
            </a:r>
            <a:r>
              <a:rPr lang="en-US" sz="1600" dirty="0"/>
              <a:t>::</a:t>
            </a:r>
            <a:r>
              <a:rPr lang="en-US" sz="1600" b="1" dirty="0" err="1"/>
              <a:t>adhesionEnergy</a:t>
            </a:r>
            <a:r>
              <a:rPr lang="en-US" sz="1600" dirty="0"/>
              <a:t>(double </a:t>
            </a:r>
            <a:r>
              <a:rPr lang="en-US" sz="1600" dirty="0" err="1"/>
              <a:t>occupiedArea</a:t>
            </a:r>
            <a:r>
              <a:rPr lang="en-US" sz="1600" dirty="0"/>
              <a:t>) const {</a:t>
            </a:r>
          </a:p>
          <a:p>
            <a:pPr marL="0" indent="0">
              <a:buNone/>
            </a:pPr>
            <a:r>
              <a:rPr lang="en-US" sz="1600" dirty="0"/>
              <a:t>	return -E0 * </a:t>
            </a:r>
            <a:r>
              <a:rPr lang="en-US" sz="1600" dirty="0" err="1"/>
              <a:t>occupiedArea</a:t>
            </a:r>
            <a:r>
              <a:rPr lang="en-US" sz="1600" dirty="0"/>
              <a:t> /(Aref + </a:t>
            </a:r>
            <a:r>
              <a:rPr lang="en-US" sz="1600" dirty="0" err="1"/>
              <a:t>occupiedArea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int </a:t>
            </a:r>
            <a:r>
              <a:rPr lang="en-US" sz="1600" dirty="0" err="1"/>
              <a:t>AdhesiveSatPlugin</a:t>
            </a:r>
            <a:r>
              <a:rPr lang="en-US" sz="1600" dirty="0"/>
              <a:t>::</a:t>
            </a:r>
            <a:r>
              <a:rPr lang="en-US" sz="1600" b="1" dirty="0" err="1"/>
              <a:t>getOccupiedSiteCount</a:t>
            </a:r>
            <a:r>
              <a:rPr lang="en-US" sz="1600" dirty="0"/>
              <a:t>(const </a:t>
            </a:r>
            <a:r>
              <a:rPr lang="en-US" sz="1600" dirty="0" err="1"/>
              <a:t>CellG</a:t>
            </a:r>
            <a:r>
              <a:rPr lang="en-US" sz="1600" dirty="0"/>
              <a:t>* cell) {</a:t>
            </a:r>
          </a:p>
          <a:p>
            <a:pPr marL="0" indent="0">
              <a:buNone/>
            </a:pPr>
            <a:r>
              <a:rPr lang="en-US" sz="1600" dirty="0"/>
              <a:t>    if (!cell) {</a:t>
            </a:r>
          </a:p>
          <a:p>
            <a:pPr marL="0" indent="0">
              <a:buNone/>
            </a:pPr>
            <a:r>
              <a:rPr lang="en-US" sz="1600" dirty="0"/>
              <a:t>        return 0;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    const int result =</a:t>
            </a:r>
            <a:r>
              <a:rPr lang="en-US" sz="1600" dirty="0" err="1"/>
              <a:t>adhesiveSatDataAccessor.get</a:t>
            </a:r>
            <a:r>
              <a:rPr lang="en-US" sz="1600" dirty="0"/>
              <a:t>(cell-&gt;</a:t>
            </a:r>
            <a:r>
              <a:rPr lang="en-US" sz="1600" dirty="0" err="1"/>
              <a:t>extraAttribPtr</a:t>
            </a:r>
            <a:r>
              <a:rPr lang="en-US" sz="1600" dirty="0"/>
              <a:t>)-&gt;</a:t>
            </a:r>
            <a:r>
              <a:rPr lang="en-US" sz="1600" dirty="0" err="1"/>
              <a:t>occupiedAdhesiveSites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    return result;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983046E3-67F9-57E6-0F48-2CE4D341399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79B5B247-681E-697E-5CA9-2385A67A4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413E4C9B-2D7B-61D8-2856-85EEECC45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0451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69B5-5EF8-647C-29A6-A4393F1C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66D0-77CD-1016-E552-2A817F5E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50" y="3372"/>
            <a:ext cx="9067800" cy="1143000"/>
          </a:xfrm>
        </p:spPr>
        <p:txBody>
          <a:bodyPr/>
          <a:lstStyle/>
          <a:p>
            <a:b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CC"/>
                </a:solidFill>
                <a:cs typeface="Arial" panose="020B0604020202020204" pitchFamily="34" charset="0"/>
              </a:rPr>
              <a:t>Exercise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00CC"/>
                </a:solidFill>
              </a:rPr>
              <a:t>9.2.5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CODE!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321CC-43AF-13E5-911E-6F92D9047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90600"/>
            <a:ext cx="8229600" cy="569277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double </a:t>
            </a:r>
            <a:r>
              <a:rPr lang="en-US" sz="1800" dirty="0" err="1"/>
              <a:t>AdhesiveSatPlugin</a:t>
            </a:r>
            <a:r>
              <a:rPr lang="en-US" sz="1800" dirty="0"/>
              <a:t>::</a:t>
            </a:r>
            <a:r>
              <a:rPr lang="en-US" sz="1800" b="1" dirty="0" err="1"/>
              <a:t>changeEnergy</a:t>
            </a:r>
            <a:r>
              <a:rPr lang="en-US" sz="1800" dirty="0"/>
              <a:t>(const Point3D&amp; pt, const </a:t>
            </a:r>
            <a:r>
              <a:rPr lang="en-US" sz="1800" dirty="0" err="1"/>
              <a:t>CellG</a:t>
            </a:r>
            <a:r>
              <a:rPr lang="en-US" sz="1800" dirty="0"/>
              <a:t>* </a:t>
            </a:r>
            <a:r>
              <a:rPr lang="en-US" sz="1800" dirty="0" err="1"/>
              <a:t>newCell</a:t>
            </a:r>
            <a:r>
              <a:rPr lang="en-US" sz="1800" dirty="0"/>
              <a:t>, const </a:t>
            </a:r>
            <a:r>
              <a:rPr lang="en-US" sz="1800" dirty="0" err="1"/>
              <a:t>CellG</a:t>
            </a:r>
            <a:r>
              <a:rPr lang="en-US" sz="1800" dirty="0"/>
              <a:t>* </a:t>
            </a:r>
            <a:r>
              <a:rPr lang="en-US" sz="1800" dirty="0" err="1"/>
              <a:t>oldCell</a:t>
            </a:r>
            <a:r>
              <a:rPr lang="en-US" sz="1800" dirty="0"/>
              <a:t>) {</a:t>
            </a:r>
          </a:p>
          <a:p>
            <a:pPr marL="0" indent="0">
              <a:buNone/>
            </a:pPr>
            <a:r>
              <a:rPr lang="en-US" sz="1800" dirty="0"/>
              <a:t>	if (!</a:t>
            </a:r>
            <a:r>
              <a:rPr lang="en-US" sz="1800" dirty="0" err="1"/>
              <a:t>isAdhesiveSite</a:t>
            </a:r>
            <a:r>
              <a:rPr lang="en-US" sz="1800" dirty="0"/>
              <a:t>(pt)) { </a:t>
            </a:r>
            <a:r>
              <a:rPr lang="en-US" sz="1800" b="1" dirty="0"/>
              <a:t>//no point evaluating if not an adhesive site</a:t>
            </a:r>
          </a:p>
          <a:p>
            <a:pPr marL="0" indent="0">
              <a:buNone/>
            </a:pPr>
            <a:r>
              <a:rPr lang="en-US" sz="1800" dirty="0"/>
              <a:t>        		return 0.0;</a:t>
            </a:r>
          </a:p>
          <a:p>
            <a:pPr marL="0" indent="0">
              <a:buNone/>
            </a:pPr>
            <a:r>
              <a:rPr lang="en-US" sz="1800" dirty="0"/>
              <a:t>    	}</a:t>
            </a:r>
          </a:p>
          <a:p>
            <a:pPr marL="0" indent="0">
              <a:buNone/>
            </a:pPr>
            <a:r>
              <a:rPr lang="en-US" sz="1800" dirty="0"/>
              <a:t>    double </a:t>
            </a:r>
            <a:r>
              <a:rPr lang="en-US" sz="1800" dirty="0" err="1"/>
              <a:t>deltaH</a:t>
            </a:r>
            <a:r>
              <a:rPr lang="en-US" sz="1800" dirty="0"/>
              <a:t> = 0.0; </a:t>
            </a:r>
            <a:r>
              <a:rPr lang="en-US" sz="1800" b="1" dirty="0"/>
              <a:t>//initialize energy</a:t>
            </a:r>
          </a:p>
          <a:p>
            <a:pPr marL="0" indent="0">
              <a:buNone/>
            </a:pPr>
            <a:r>
              <a:rPr lang="en-US" sz="1800" dirty="0"/>
              <a:t>if (</a:t>
            </a:r>
            <a:r>
              <a:rPr lang="en-US" sz="1800" dirty="0" err="1"/>
              <a:t>oldCell</a:t>
            </a:r>
            <a:r>
              <a:rPr lang="en-US" sz="1800" dirty="0"/>
              <a:t>) {</a:t>
            </a:r>
          </a:p>
          <a:p>
            <a:pPr marL="0" indent="0">
              <a:buNone/>
            </a:pPr>
            <a:r>
              <a:rPr lang="en-US" sz="1800" dirty="0"/>
              <a:t>        const int </a:t>
            </a:r>
            <a:r>
              <a:rPr lang="en-US" sz="1800" dirty="0" err="1"/>
              <a:t>oldAi</a:t>
            </a:r>
            <a:r>
              <a:rPr lang="en-US" sz="1800" dirty="0"/>
              <a:t> =</a:t>
            </a:r>
            <a:r>
              <a:rPr lang="en-US" sz="1800" dirty="0" err="1"/>
              <a:t>getOccupiedSiteCount</a:t>
            </a:r>
            <a:r>
              <a:rPr lang="en-US" sz="1800" dirty="0"/>
              <a:t>(</a:t>
            </a:r>
            <a:r>
              <a:rPr lang="en-US" sz="1800" dirty="0" err="1"/>
              <a:t>oldCell</a:t>
            </a:r>
            <a:r>
              <a:rPr lang="en-US" sz="1800" dirty="0"/>
              <a:t>);</a:t>
            </a:r>
          </a:p>
          <a:p>
            <a:pPr marL="0" indent="0">
              <a:buNone/>
            </a:pPr>
            <a:r>
              <a:rPr lang="en-US" sz="1800" dirty="0"/>
              <a:t>        const int </a:t>
            </a:r>
            <a:r>
              <a:rPr lang="en-US" sz="1800" dirty="0" err="1"/>
              <a:t>proposedAi</a:t>
            </a:r>
            <a:r>
              <a:rPr lang="en-US" sz="1800" dirty="0"/>
              <a:t> = </a:t>
            </a:r>
            <a:r>
              <a:rPr lang="en-US" sz="1800" dirty="0" err="1"/>
              <a:t>oldAi</a:t>
            </a:r>
            <a:r>
              <a:rPr lang="en-US" sz="1800" dirty="0"/>
              <a:t> - 1; </a:t>
            </a:r>
            <a:r>
              <a:rPr lang="en-US" sz="1800" b="1" dirty="0"/>
              <a:t>//old cell would lose a site</a:t>
            </a:r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deltaH</a:t>
            </a:r>
            <a:r>
              <a:rPr lang="en-US" sz="1800" dirty="0"/>
              <a:t> += </a:t>
            </a:r>
            <a:r>
              <a:rPr lang="en-US" sz="1800" dirty="0" err="1"/>
              <a:t>adhesionEnergy</a:t>
            </a:r>
            <a:r>
              <a:rPr lang="en-US" sz="1800" dirty="0"/>
              <a:t>(</a:t>
            </a:r>
            <a:r>
              <a:rPr lang="en-US" sz="1800" b="1" dirty="0" err="1"/>
              <a:t>proposedAi</a:t>
            </a:r>
            <a:r>
              <a:rPr lang="en-US" sz="1800" dirty="0"/>
              <a:t>) - </a:t>
            </a:r>
            <a:r>
              <a:rPr lang="en-US" sz="1800" dirty="0" err="1"/>
              <a:t>adhesionEnergy</a:t>
            </a:r>
            <a:r>
              <a:rPr lang="en-US" sz="1800" dirty="0"/>
              <a:t>(</a:t>
            </a:r>
            <a:r>
              <a:rPr lang="en-US" sz="1800" b="1" dirty="0" err="1"/>
              <a:t>oldAi</a:t>
            </a:r>
            <a:r>
              <a:rPr lang="en-US" sz="1800" dirty="0"/>
              <a:t>);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if (</a:t>
            </a:r>
            <a:r>
              <a:rPr lang="en-US" sz="1800" dirty="0" err="1"/>
              <a:t>newCell</a:t>
            </a:r>
            <a:r>
              <a:rPr lang="en-US" sz="1800" dirty="0"/>
              <a:t>) {</a:t>
            </a:r>
          </a:p>
          <a:p>
            <a:pPr marL="0" indent="0">
              <a:buNone/>
            </a:pPr>
            <a:r>
              <a:rPr lang="en-US" sz="1800" dirty="0"/>
              <a:t>	const int </a:t>
            </a:r>
            <a:r>
              <a:rPr lang="en-US" sz="1800" dirty="0" err="1"/>
              <a:t>oldAi</a:t>
            </a:r>
            <a:r>
              <a:rPr lang="en-US" sz="1800" dirty="0"/>
              <a:t> =</a:t>
            </a:r>
            <a:r>
              <a:rPr lang="en-US" sz="1800" dirty="0" err="1"/>
              <a:t>getOccupiedSiteCount</a:t>
            </a:r>
            <a:r>
              <a:rPr lang="en-US" sz="1800" dirty="0"/>
              <a:t>(</a:t>
            </a:r>
            <a:r>
              <a:rPr lang="en-US" sz="1800" dirty="0" err="1"/>
              <a:t>newCell</a:t>
            </a:r>
            <a:r>
              <a:rPr lang="en-US" sz="1800" dirty="0"/>
              <a:t>); </a:t>
            </a:r>
          </a:p>
          <a:p>
            <a:pPr marL="0" indent="0">
              <a:buNone/>
            </a:pPr>
            <a:r>
              <a:rPr lang="en-US" sz="1800" dirty="0"/>
              <a:t>	const int </a:t>
            </a:r>
            <a:r>
              <a:rPr lang="en-US" sz="1800" dirty="0" err="1"/>
              <a:t>proposedAi</a:t>
            </a:r>
            <a:r>
              <a:rPr lang="en-US" sz="1800" dirty="0"/>
              <a:t> = </a:t>
            </a:r>
            <a:r>
              <a:rPr lang="en-US" sz="1800" dirty="0" err="1"/>
              <a:t>oldAi</a:t>
            </a:r>
            <a:r>
              <a:rPr lang="en-US" sz="1800" dirty="0"/>
              <a:t> + 1; </a:t>
            </a:r>
            <a:r>
              <a:rPr lang="en-US" sz="1800" b="1" dirty="0"/>
              <a:t>//new cell would gain a site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</a:t>
            </a:r>
            <a:r>
              <a:rPr lang="en-US" sz="1800" dirty="0" err="1"/>
              <a:t>deltaH</a:t>
            </a:r>
            <a:r>
              <a:rPr lang="en-US" sz="1800" dirty="0"/>
              <a:t> +=</a:t>
            </a:r>
            <a:r>
              <a:rPr lang="en-US" sz="1800" dirty="0" err="1"/>
              <a:t>adhesionEnergy</a:t>
            </a:r>
            <a:r>
              <a:rPr lang="en-US" sz="1800" dirty="0"/>
              <a:t>(</a:t>
            </a:r>
            <a:r>
              <a:rPr lang="en-US" sz="1800" b="1" dirty="0" err="1"/>
              <a:t>proposedAi</a:t>
            </a:r>
            <a:r>
              <a:rPr lang="en-US" sz="1800" dirty="0"/>
              <a:t>) -</a:t>
            </a:r>
            <a:r>
              <a:rPr lang="en-US" sz="1800" dirty="0" err="1"/>
              <a:t>adhesionEnergy</a:t>
            </a:r>
            <a:r>
              <a:rPr lang="en-US" sz="1800" dirty="0"/>
              <a:t>(</a:t>
            </a:r>
            <a:r>
              <a:rPr lang="en-US" sz="1800" b="1" dirty="0" err="1"/>
              <a:t>oldAi</a:t>
            </a:r>
            <a:r>
              <a:rPr lang="en-US" sz="1800" dirty="0"/>
              <a:t>);</a:t>
            </a:r>
          </a:p>
          <a:p>
            <a:pPr marL="0" indent="0">
              <a:buNone/>
            </a:pPr>
            <a:r>
              <a:rPr lang="en-US" sz="1800" dirty="0"/>
              <a:t>    }</a:t>
            </a:r>
          </a:p>
          <a:p>
            <a:pPr marL="0" indent="0">
              <a:buNone/>
            </a:pPr>
            <a:r>
              <a:rPr lang="en-US" sz="1800" dirty="0"/>
              <a:t>    return </a:t>
            </a:r>
            <a:r>
              <a:rPr lang="en-US" sz="1800" dirty="0" err="1"/>
              <a:t>deltaH</a:t>
            </a:r>
            <a:r>
              <a:rPr lang="en-US" sz="1800" dirty="0"/>
              <a:t>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7C8916F8-8EC4-AEEB-A7DE-769F93C290D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694F998A-739C-8462-537A-04BEA647F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5FFFCCCF-757E-92D5-48C6-8B03C50F7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279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0EA39-5228-6754-AF1F-367AB85AF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2E17-23A0-8236-36DD-2FCFD4F3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9067800" cy="1143000"/>
          </a:xfrm>
        </p:spPr>
        <p:txBody>
          <a:bodyPr/>
          <a:lstStyle/>
          <a:p>
            <a:b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CC"/>
                </a:solidFill>
                <a:cs typeface="Arial" panose="020B0604020202020204" pitchFamily="34" charset="0"/>
              </a:rPr>
              <a:t>Exercise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00CC"/>
                </a:solidFill>
              </a:rPr>
              <a:t>9.2.5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CODE!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48A6B-DEF8-60B8-19CB-62684AB39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90600"/>
            <a:ext cx="8229600" cy="569277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void </a:t>
            </a:r>
            <a:r>
              <a:rPr lang="en-US" sz="1800" dirty="0" err="1"/>
              <a:t>AdhesiveSatPlugin</a:t>
            </a:r>
            <a:r>
              <a:rPr lang="en-US" sz="1800" dirty="0"/>
              <a:t>::</a:t>
            </a:r>
            <a:r>
              <a:rPr lang="en-US" sz="1800" b="1" dirty="0"/>
              <a:t>field3DChange</a:t>
            </a:r>
            <a:r>
              <a:rPr lang="en-US" sz="1800" dirty="0"/>
              <a:t>(const Point3D&amp; </a:t>
            </a:r>
            <a:r>
              <a:rPr lang="en-US" sz="1800" dirty="0" err="1"/>
              <a:t>pt,CellG</a:t>
            </a:r>
            <a:r>
              <a:rPr lang="en-US" sz="1800" dirty="0"/>
              <a:t>* </a:t>
            </a:r>
            <a:r>
              <a:rPr lang="en-US" sz="1800" dirty="0" err="1"/>
              <a:t>newCell,CellG</a:t>
            </a:r>
            <a:r>
              <a:rPr lang="en-US" sz="1800" dirty="0"/>
              <a:t>* </a:t>
            </a:r>
            <a:r>
              <a:rPr lang="en-US" sz="1800" dirty="0" err="1"/>
              <a:t>oldCell</a:t>
            </a:r>
            <a:r>
              <a:rPr lang="en-US" sz="1800" dirty="0"/>
              <a:t>) {</a:t>
            </a:r>
          </a:p>
          <a:p>
            <a:pPr marL="0" indent="0">
              <a:buNone/>
            </a:pPr>
            <a:r>
              <a:rPr lang="en-US" sz="1800" dirty="0"/>
              <a:t>	if (!</a:t>
            </a:r>
            <a:r>
              <a:rPr lang="en-US" sz="1800" dirty="0" err="1"/>
              <a:t>isAdhesiveSite</a:t>
            </a:r>
            <a:r>
              <a:rPr lang="en-US" sz="1800" dirty="0"/>
              <a:t>(pt)) { </a:t>
            </a:r>
            <a:r>
              <a:rPr lang="en-US" sz="1800" b="1" dirty="0"/>
              <a:t>//no point evaluating if not an adhesive site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		return;</a:t>
            </a:r>
          </a:p>
          <a:p>
            <a:pPr marL="0" indent="0">
              <a:buNone/>
            </a:pPr>
            <a:r>
              <a:rPr lang="en-US" sz="1800" dirty="0"/>
              <a:t>	}</a:t>
            </a:r>
          </a:p>
          <a:p>
            <a:pPr marL="0" indent="0">
              <a:buNone/>
            </a:pPr>
            <a:r>
              <a:rPr lang="en-US" sz="1800" dirty="0"/>
              <a:t>	if (</a:t>
            </a:r>
            <a:r>
              <a:rPr lang="en-US" sz="1800" dirty="0" err="1"/>
              <a:t>oldCell</a:t>
            </a:r>
            <a:r>
              <a:rPr lang="en-US" sz="1800" dirty="0"/>
              <a:t>) {</a:t>
            </a:r>
          </a:p>
          <a:p>
            <a:pPr marL="0" indent="0">
              <a:buNone/>
            </a:pPr>
            <a:r>
              <a:rPr lang="en-US" sz="1800" dirty="0"/>
              <a:t>		</a:t>
            </a:r>
            <a:r>
              <a:rPr lang="en-US" sz="1800" dirty="0" err="1"/>
              <a:t>AdhesiveSatData</a:t>
            </a:r>
            <a:r>
              <a:rPr lang="en-US" sz="1800" dirty="0"/>
              <a:t>* </a:t>
            </a:r>
            <a:r>
              <a:rPr lang="en-US" sz="1800" dirty="0" err="1"/>
              <a:t>oldData</a:t>
            </a:r>
            <a:r>
              <a:rPr lang="en-US" sz="1800" dirty="0"/>
              <a:t> =</a:t>
            </a:r>
            <a:r>
              <a:rPr lang="en-US" sz="1800" dirty="0" err="1"/>
              <a:t>adhesiveSatDataAccessor.get</a:t>
            </a:r>
            <a:r>
              <a:rPr lang="en-US" sz="1800" dirty="0"/>
              <a:t>(</a:t>
            </a:r>
          </a:p>
          <a:p>
            <a:pPr marL="0" indent="0">
              <a:buNone/>
            </a:pPr>
            <a:r>
              <a:rPr lang="en-US" sz="1800" dirty="0"/>
              <a:t>                	</a:t>
            </a:r>
            <a:r>
              <a:rPr lang="en-US" sz="1800" dirty="0" err="1"/>
              <a:t>oldCell</a:t>
            </a:r>
            <a:r>
              <a:rPr lang="en-US" sz="1800" dirty="0"/>
              <a:t>-&gt;</a:t>
            </a:r>
            <a:r>
              <a:rPr lang="en-US" sz="1800" dirty="0" err="1"/>
              <a:t>extraAttribPtr</a:t>
            </a:r>
            <a:r>
              <a:rPr lang="en-US" sz="1800" dirty="0"/>
              <a:t>);</a:t>
            </a:r>
          </a:p>
          <a:p>
            <a:pPr marL="0" indent="0">
              <a:buNone/>
            </a:pPr>
            <a:r>
              <a:rPr lang="en-US" sz="1800" dirty="0"/>
              <a:t>		--</a:t>
            </a:r>
            <a:r>
              <a:rPr lang="en-US" sz="1800" dirty="0" err="1"/>
              <a:t>oldData</a:t>
            </a:r>
            <a:r>
              <a:rPr lang="en-US" sz="1800" dirty="0"/>
              <a:t>-&gt;</a:t>
            </a:r>
            <a:r>
              <a:rPr lang="en-US" sz="1800" dirty="0" err="1"/>
              <a:t>occupiedAdhesiveSites</a:t>
            </a:r>
            <a:r>
              <a:rPr lang="en-US" sz="1800" dirty="0"/>
              <a:t>; </a:t>
            </a:r>
            <a:r>
              <a:rPr lang="en-US" sz="1800" b="1" dirty="0"/>
              <a:t>//old cell loses a site</a:t>
            </a:r>
          </a:p>
          <a:p>
            <a:pPr marL="0" indent="0">
              <a:buNone/>
            </a:pPr>
            <a:r>
              <a:rPr lang="en-US" sz="1800" dirty="0"/>
              <a:t>    	}</a:t>
            </a:r>
          </a:p>
          <a:p>
            <a:pPr marL="0" indent="0">
              <a:buNone/>
            </a:pPr>
            <a:r>
              <a:rPr lang="en-US" sz="1800" dirty="0"/>
              <a:t>	if (</a:t>
            </a:r>
            <a:r>
              <a:rPr lang="en-US" sz="1800" dirty="0" err="1"/>
              <a:t>newCell</a:t>
            </a:r>
            <a:r>
              <a:rPr lang="en-US" sz="1800" dirty="0"/>
              <a:t>) {</a:t>
            </a:r>
          </a:p>
          <a:p>
            <a:pPr marL="0" indent="0">
              <a:buNone/>
            </a:pPr>
            <a:r>
              <a:rPr lang="en-US" sz="1800" dirty="0"/>
              <a:t>        		</a:t>
            </a:r>
            <a:r>
              <a:rPr lang="en-US" sz="1800" dirty="0" err="1"/>
              <a:t>AdhesiveSatData</a:t>
            </a:r>
            <a:r>
              <a:rPr lang="en-US" sz="1800" dirty="0"/>
              <a:t>* </a:t>
            </a:r>
            <a:r>
              <a:rPr lang="en-US" sz="1800" dirty="0" err="1"/>
              <a:t>newData</a:t>
            </a:r>
            <a:r>
              <a:rPr lang="en-US" sz="1800" dirty="0"/>
              <a:t> =</a:t>
            </a:r>
            <a:r>
              <a:rPr lang="en-US" sz="1800" dirty="0" err="1"/>
              <a:t>adhesiveSatDataAccessor.get</a:t>
            </a:r>
            <a:r>
              <a:rPr lang="en-US" sz="1800" dirty="0"/>
              <a:t>(</a:t>
            </a:r>
          </a:p>
          <a:p>
            <a:pPr marL="0" indent="0">
              <a:buNone/>
            </a:pPr>
            <a:r>
              <a:rPr lang="en-US" sz="1800" dirty="0"/>
              <a:t>               	</a:t>
            </a:r>
            <a:r>
              <a:rPr lang="en-US" sz="1800" dirty="0" err="1"/>
              <a:t>newCell</a:t>
            </a:r>
            <a:r>
              <a:rPr lang="en-US" sz="1800" dirty="0"/>
              <a:t>-&gt;</a:t>
            </a:r>
            <a:r>
              <a:rPr lang="en-US" sz="1800" dirty="0" err="1"/>
              <a:t>extraAttribPtr</a:t>
            </a:r>
            <a:r>
              <a:rPr lang="en-US" sz="1800" dirty="0"/>
              <a:t>);</a:t>
            </a:r>
          </a:p>
          <a:p>
            <a:pPr marL="0" indent="0">
              <a:buNone/>
            </a:pPr>
            <a:r>
              <a:rPr lang="en-US" sz="1800" dirty="0"/>
              <a:t>		++</a:t>
            </a:r>
            <a:r>
              <a:rPr lang="en-US" sz="1800" dirty="0" err="1"/>
              <a:t>newData</a:t>
            </a:r>
            <a:r>
              <a:rPr lang="en-US" sz="1800" dirty="0"/>
              <a:t>-&gt;</a:t>
            </a:r>
            <a:r>
              <a:rPr lang="en-US" sz="1800" dirty="0" err="1"/>
              <a:t>occupiedAdhesiveSites</a:t>
            </a:r>
            <a:r>
              <a:rPr lang="en-US" sz="1800" dirty="0"/>
              <a:t>;</a:t>
            </a:r>
            <a:r>
              <a:rPr lang="en-US" sz="1800" b="1" dirty="0"/>
              <a:t> //new cell gains a site</a:t>
            </a:r>
          </a:p>
          <a:p>
            <a:pPr marL="0" indent="0">
              <a:buNone/>
            </a:pPr>
            <a:r>
              <a:rPr lang="en-US" sz="1800" dirty="0"/>
              <a:t>    	}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33DB2934-46C3-55B9-5250-BFD7D4B7BFF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269AD603-29B6-00BC-06DA-35288FF32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64EDC79F-B0CF-DD51-0F3D-A397E1C59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03183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FA78F-F2B2-E893-4FB2-99054EAF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8C68C-0404-C81E-9705-CB77AA65B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9067800" cy="1143000"/>
          </a:xfrm>
        </p:spPr>
        <p:txBody>
          <a:bodyPr/>
          <a:lstStyle/>
          <a:p>
            <a:b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CC"/>
                </a:solidFill>
                <a:cs typeface="Arial" panose="020B0604020202020204" pitchFamily="34" charset="0"/>
              </a:rPr>
              <a:t>Exercise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00CC"/>
                </a:solidFill>
              </a:rPr>
              <a:t>9.2.5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Initialization and XML definitions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996E5-8BA5-6D56-33DB-EEDD95C3D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71600"/>
            <a:ext cx="8229600" cy="569277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We are now forced to do a few extra operations to get this code to work</a:t>
            </a:r>
          </a:p>
          <a:p>
            <a:pPr marL="0" indent="0">
              <a:buNone/>
            </a:pPr>
            <a:r>
              <a:rPr lang="en-US" sz="1800" dirty="0"/>
              <a:t>We need to define the field, for now we will define it in the </a:t>
            </a:r>
            <a:r>
              <a:rPr lang="en-US" sz="1800" dirty="0" err="1"/>
              <a:t>init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void </a:t>
            </a:r>
            <a:r>
              <a:rPr lang="en-US" sz="1800" dirty="0" err="1"/>
              <a:t>AdhesiveSatPlugin</a:t>
            </a:r>
            <a:r>
              <a:rPr lang="en-US" sz="1800" dirty="0"/>
              <a:t>::</a:t>
            </a:r>
            <a:r>
              <a:rPr lang="en-US" sz="1800" dirty="0" err="1"/>
              <a:t>extraInit</a:t>
            </a:r>
            <a:r>
              <a:rPr lang="en-US" sz="1800" dirty="0"/>
              <a:t>(Simulator* simulator) {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err="1"/>
              <a:t>initializeYField</a:t>
            </a:r>
            <a:r>
              <a:rPr lang="en-US" sz="1800" dirty="0"/>
              <a:t>();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b="1" dirty="0"/>
              <a:t>//this function creates a 200x200 lattice forming a Y with thickness 7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err="1"/>
              <a:t>initializeOccupiedSiteCounts</a:t>
            </a:r>
            <a:r>
              <a:rPr lang="en-US" sz="1800" dirty="0"/>
              <a:t>();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b="1" dirty="0"/>
              <a:t>//this function initializes the number of lattice sites already occupied by cells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Both are written in the .</a:t>
            </a:r>
            <a:r>
              <a:rPr lang="en-US" sz="1800" dirty="0" err="1"/>
              <a:t>cpp</a:t>
            </a:r>
            <a:r>
              <a:rPr lang="en-US" sz="1800" dirty="0"/>
              <a:t> file and defined in the .h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XML definitions and relationships are typically contained within the update function</a:t>
            </a:r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3BA778F9-F727-B953-E1BC-7BD9E3DA5F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79C05E80-91DC-B1EE-DB50-C672C53B3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1D9CF5B7-3A91-2A1B-B9CF-293FCD31E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66561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FC4F-943F-4AC6-F66E-CB9196BE1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7DFC2-84F9-9736-33CF-352CC871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comments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C2E01-014C-0B7C-8103-48A746C21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92275"/>
            <a:ext cx="8229600" cy="4527549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If you want to contribute your plug in to release CC3D you are welcome to, but it will need to be extensible meaning:</a:t>
            </a:r>
          </a:p>
          <a:p>
            <a:r>
              <a:rPr lang="en-US" sz="1800" dirty="0"/>
              <a:t>Error checking</a:t>
            </a:r>
          </a:p>
          <a:p>
            <a:r>
              <a:rPr lang="en-US" sz="1800" dirty="0"/>
              <a:t>Method should work in square and hex lattice types, all copy ranges and in 2D/3D</a:t>
            </a:r>
          </a:p>
          <a:p>
            <a:r>
              <a:rPr lang="en-US" sz="1800" dirty="0"/>
              <a:t>Should have CC3DML counterpart and be Python controllable</a:t>
            </a:r>
          </a:p>
          <a:p>
            <a:r>
              <a:rPr lang="en-US" sz="1800" dirty="0"/>
              <a:t>Documentation with clear explanation of purpose and function at the mathematical level</a:t>
            </a:r>
          </a:p>
          <a:p>
            <a:r>
              <a:rPr lang="en-US" sz="1800" dirty="0"/>
              <a:t>Include method demos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For simple plug in examples or examples of a </a:t>
            </a:r>
            <a:r>
              <a:rPr lang="en-US" sz="1800" dirty="0" err="1"/>
              <a:t>c++</a:t>
            </a:r>
            <a:r>
              <a:rPr lang="en-US" sz="1800" dirty="0"/>
              <a:t> </a:t>
            </a:r>
            <a:r>
              <a:rPr lang="en-US" sz="1800" dirty="0" err="1"/>
              <a:t>steppable</a:t>
            </a:r>
            <a:r>
              <a:rPr lang="en-US" sz="1800" dirty="0"/>
              <a:t> see: </a:t>
            </a:r>
            <a:r>
              <a:rPr lang="en-US" sz="1800" dirty="0">
                <a:hlinkClick r:id="rId2"/>
              </a:rPr>
              <a:t>https://compucell3ddevelopersmanual.readthedocs.io/en/master/building_growth_steppable_in_main_code.html#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i="1" dirty="0"/>
          </a:p>
        </p:txBody>
      </p:sp>
      <p:pic>
        <p:nvPicPr>
          <p:cNvPr id="4" name="Google Shape;115;p3">
            <a:extLst>
              <a:ext uri="{FF2B5EF4-FFF2-40B4-BE49-F238E27FC236}">
                <a16:creationId xmlns:a16="http://schemas.microsoft.com/office/drawing/2014/main" id="{E12A6FCC-35E6-ADD3-1CC8-E576607FED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0275" y="0"/>
            <a:ext cx="593675" cy="61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7" descr="Biocomplexity Logo">
            <a:extLst>
              <a:ext uri="{FF2B5EF4-FFF2-40B4-BE49-F238E27FC236}">
                <a16:creationId xmlns:a16="http://schemas.microsoft.com/office/drawing/2014/main" id="{5D31CBC8-2B48-B97D-8076-3BC315DB1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275" y="6264275"/>
            <a:ext cx="59372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redblackblockiu">
            <a:extLst>
              <a:ext uri="{FF2B5EF4-FFF2-40B4-BE49-F238E27FC236}">
                <a16:creationId xmlns:a16="http://schemas.microsoft.com/office/drawing/2014/main" id="{CBF8C909-43EF-D385-4AD7-C32461A1D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9825"/>
            <a:ext cx="484188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341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6878648" cy="92937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b="1" dirty="0">
                <a:solidFill>
                  <a:srgbClr val="0000CC"/>
                </a:solidFill>
              </a:rPr>
              <a:t>Module Questionnaire</a:t>
            </a:r>
            <a:endParaRPr lang="en-US" altLang="en-US" sz="4000" b="1" dirty="0">
              <a:solidFill>
                <a:srgbClr val="000099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ABDA75-5212-48CF-4FBF-22C0E0232EE2}"/>
              </a:ext>
            </a:extLst>
          </p:cNvPr>
          <p:cNvSpPr txBox="1"/>
          <p:nvPr/>
        </p:nvSpPr>
        <p:spPr>
          <a:xfrm>
            <a:off x="260176" y="2100887"/>
            <a:ext cx="859614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Please take a minute or two to let us know about your experience with this module by filling out the brief zoom survey</a:t>
            </a:r>
          </a:p>
          <a:p>
            <a:endParaRPr lang="en-US" sz="2800" b="1" dirty="0"/>
          </a:p>
          <a:p>
            <a:r>
              <a:rPr lang="en-US" sz="2800" b="1" dirty="0"/>
              <a:t>Feel free to provide additional comments and suggestions in the slack or by email to us as well (hfennel@iu.edu)</a:t>
            </a:r>
          </a:p>
          <a:p>
            <a:endParaRPr lang="en-US" b="1" dirty="0"/>
          </a:p>
          <a:p>
            <a:r>
              <a:rPr lang="en-US" sz="1800" b="1" dirty="0">
                <a:solidFill>
                  <a:srgbClr val="0000FF"/>
                </a:solidFill>
              </a:rPr>
              <a:t>Funding: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b="1" dirty="0"/>
              <a:t>NIH U24 EB028887, NSF 2120200, NSF 2000281, NSF 1720625</a:t>
            </a:r>
          </a:p>
          <a:p>
            <a:r>
              <a:rPr lang="en-US" sz="1800" b="1" dirty="0"/>
              <a:t>Previous Funding: NIH R01 GM122424</a:t>
            </a:r>
            <a:fld id="{FDF9DC1B-D9CD-4A25-A805-D02460E9EA77}" type="slidenum">
              <a:rPr lang="en-US" sz="1800" b="1" smtClean="0"/>
              <a:pPr/>
              <a:t>39</a:t>
            </a:fld>
            <a:r>
              <a:rPr lang="en-US"/>
              <a:t> </a:t>
            </a:r>
            <a:endParaRPr lang="en-US" dirty="0"/>
          </a:p>
        </p:txBody>
      </p:sp>
      <p:pic>
        <p:nvPicPr>
          <p:cNvPr id="26" name="Google Shape;283;p18">
            <a:extLst>
              <a:ext uri="{FF2B5EF4-FFF2-40B4-BE49-F238E27FC236}">
                <a16:creationId xmlns:a16="http://schemas.microsoft.com/office/drawing/2014/main" id="{C71CAC13-E802-4287-F646-E90C62211A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6308343"/>
            <a:ext cx="436652" cy="572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84;p18">
            <a:extLst>
              <a:ext uri="{FF2B5EF4-FFF2-40B4-BE49-F238E27FC236}">
                <a16:creationId xmlns:a16="http://schemas.microsoft.com/office/drawing/2014/main" id="{C85329B2-5725-FCD1-BD89-244AD7C0505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68646" y="6282646"/>
            <a:ext cx="575353" cy="575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22F6D4-5374-D2C7-6705-5D3ED51CF7C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3B1"/>
              </a:clrFrom>
              <a:clrTo>
                <a:srgbClr val="FEF3B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50325" y="0"/>
            <a:ext cx="593675" cy="6178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4308DF-C078-5B02-C483-8A46919B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CC37C3-5C3B-4276-83BC-BB855785719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30446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A4B42D326EED47845E91DDE972D891" ma:contentTypeVersion="7" ma:contentTypeDescription="Create a new document." ma:contentTypeScope="" ma:versionID="fb49de3f7cf354b6edb62a6156e8029d">
  <xsd:schema xmlns:xsd="http://www.w3.org/2001/XMLSchema" xmlns:xs="http://www.w3.org/2001/XMLSchema" xmlns:p="http://schemas.microsoft.com/office/2006/metadata/properties" xmlns:ns3="93d5dc8f-ad47-41c4-ba0f-ecac85b3dc47" xmlns:ns4="76fd4a74-22af-4879-baf6-225bf07c6ecb" targetNamespace="http://schemas.microsoft.com/office/2006/metadata/properties" ma:root="true" ma:fieldsID="ea5cb0f436923d773d497ffbeebdba41" ns3:_="" ns4:_="">
    <xsd:import namespace="93d5dc8f-ad47-41c4-ba0f-ecac85b3dc47"/>
    <xsd:import namespace="76fd4a74-22af-4879-baf6-225bf07c6e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d5dc8f-ad47-41c4-ba0f-ecac85b3dc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fd4a74-22af-4879-baf6-225bf07c6ec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E09F8A-B9EE-48EE-AEBF-5870D29D59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1C0C05-9F09-44A0-83A0-E185A070F595}">
  <ds:schemaRefs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76fd4a74-22af-4879-baf6-225bf07c6ecb"/>
    <ds:schemaRef ds:uri="93d5dc8f-ad47-41c4-ba0f-ecac85b3dc47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E5B1B83-8D24-4CFE-9827-80664D0626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d5dc8f-ad47-41c4-ba0f-ecac85b3dc47"/>
    <ds:schemaRef ds:uri="76fd4a74-22af-4879-baf6-225bf07c6e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36515</TotalTime>
  <Words>3245</Words>
  <Application>Microsoft Office PowerPoint</Application>
  <PresentationFormat>On-screen Show (4:3)</PresentationFormat>
  <Paragraphs>474</Paragraphs>
  <Slides>39</Slides>
  <Notes>2</Notes>
  <HiddenSlides>15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Arial</vt:lpstr>
      <vt:lpstr>Calibri</vt:lpstr>
      <vt:lpstr>Cambria Math</vt:lpstr>
      <vt:lpstr>Lato</vt:lpstr>
      <vt:lpstr>SFMono-Regular</vt:lpstr>
      <vt:lpstr>Wingdings</vt:lpstr>
      <vt:lpstr>Default Design</vt:lpstr>
      <vt:lpstr>CompuCell3D Workshop: Module 9.2: C++ extensions</vt:lpstr>
      <vt:lpstr>Module 9.2 Topics</vt:lpstr>
      <vt:lpstr>9.2.1 Steppables and plug ins evaluate at different times</vt:lpstr>
      <vt:lpstr>9.2.2 Setting up a plug in from tweddit</vt:lpstr>
      <vt:lpstr>9.2.2 Setting up a module from tweddit</vt:lpstr>
      <vt:lpstr>9.2.2 Where to target</vt:lpstr>
      <vt:lpstr>9.2.2 Let us make a plug in</vt:lpstr>
      <vt:lpstr>9.2.2 What is created when running</vt:lpstr>
      <vt:lpstr>9.2.2 What is created when running</vt:lpstr>
      <vt:lpstr>9.2.2 What is created when running: header file</vt:lpstr>
      <vt:lpstr>9.2.2 What is created when running: cpp file</vt:lpstr>
      <vt:lpstr>9.2.2 What is created when running: cpp file</vt:lpstr>
      <vt:lpstr>9.2.2 What is created when running</vt:lpstr>
      <vt:lpstr>9.2.3 Tweddit shortcuts</vt:lpstr>
      <vt:lpstr>9.2.3 Using an IDE</vt:lpstr>
      <vt:lpstr>9.2.3 Further comments</vt:lpstr>
      <vt:lpstr>9.2.2 Let us make a steppable</vt:lpstr>
      <vt:lpstr>Exercise 9.2.4 — GrowthSteppable</vt:lpstr>
      <vt:lpstr>Exercise 9.2.4 — GrowthSteppable</vt:lpstr>
      <vt:lpstr>Exercise 9.2.4 — GrowthSteppable : Install</vt:lpstr>
      <vt:lpstr>Exercise 9.2.4 — GrowthSteppable : Run it!</vt:lpstr>
      <vt:lpstr>Exercise 9.2.4 — GrowthSteppable : Extending the Steppable</vt:lpstr>
      <vt:lpstr>Exercise 9.2.4 — Removing hardcoded components : xml</vt:lpstr>
      <vt:lpstr>Exercise 9.2.4 — Removing hardcoded components : xml</vt:lpstr>
      <vt:lpstr>Exercise 9.2.4 — Removing hardcoded components : xml</vt:lpstr>
      <vt:lpstr>Exercise 9.2.4 — Allowing Different Growth Rates for Different Cell types</vt:lpstr>
      <vt:lpstr>Exercise 9.2.4 — We expect this XML structure</vt:lpstr>
      <vt:lpstr>Exercise 9.2.4 — We then modify the step function</vt:lpstr>
      <vt:lpstr> Exercise 9.2.4 — Applying an Energy Modification</vt:lpstr>
      <vt:lpstr> Exercise 9.2.5 — Applying our changes</vt:lpstr>
      <vt:lpstr> Exercise 9.2.5: initialization</vt:lpstr>
      <vt:lpstr> Exercise 9.2.5: field3DChange</vt:lpstr>
      <vt:lpstr> Exercise 9.2.5: changeEnergy</vt:lpstr>
      <vt:lpstr> Exercise 9.2.5 – CODE!</vt:lpstr>
      <vt:lpstr> Exercise 9.2.5 – CODE!</vt:lpstr>
      <vt:lpstr> Exercise 9.2.5 – CODE!</vt:lpstr>
      <vt:lpstr> Exercise 9.2.5 – Initialization and XML definitions</vt:lpstr>
      <vt:lpstr> Final comments</vt:lpstr>
      <vt:lpstr>Module Questionnaire</vt:lpstr>
    </vt:vector>
  </TitlesOfParts>
  <Company>Indiana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P548/M548 Mathematical Biology</dc:title>
  <dc:creator>James Glazier</dc:creator>
  <cp:lastModifiedBy>Hayden Fennell</cp:lastModifiedBy>
  <cp:revision>722</cp:revision>
  <dcterms:created xsi:type="dcterms:W3CDTF">2006-01-12T00:58:50Z</dcterms:created>
  <dcterms:modified xsi:type="dcterms:W3CDTF">2026-08-06T17:15:17Z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0x0101004AA4B42D326EED47845E91DDE972D891</vt:lpwstr>
  </property>
</Properties>
</file>